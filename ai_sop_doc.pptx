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4" r:id="rId15"/>
    <p:sldId id="269" r:id="rId16"/>
    <p:sldId id="270" r:id="rId17"/>
    <p:sldId id="271" r:id="rId18"/>
    <p:sldId id="285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708"/>
  </p:normalViewPr>
  <p:slideViewPr>
    <p:cSldViewPr snapToGrid="0" snapToObjects="1">
      <p:cViewPr>
        <p:scale>
          <a:sx n="120" d="100"/>
          <a:sy n="120" d="100"/>
        </p:scale>
        <p:origin x="2080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015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DA07C-6634-DF8C-DFDF-C9087FCB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C279F-BFAB-6826-7158-4A353918B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EB1D6-C354-4298-20AB-4DC8897FF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ACF51-E95E-0341-02A0-8731519E96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55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A268A-8CBD-978D-4345-01B36AB6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1195F-793C-6650-866A-69442E3E2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D5C27-7989-2657-0E71-D4FE23F3A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6380C-9BA0-9EAE-03CA-78AD358B8E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17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16.png"/><Relationship Id="rId4" Type="http://schemas.openxmlformats.org/officeDocument/2006/relationships/image" Target="../media/image45.png"/><Relationship Id="rId9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53.png"/><Relationship Id="rId9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1589227" y="1438351"/>
            <a:ext cx="939180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AI-Assisted Maintenance System SOP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1872691" y="2400300"/>
            <a:ext cx="723016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Standard Operating Procedures for safe, scalable, and efficient AI-enabled code maintenance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89227" y="3543300"/>
            <a:ext cx="9020556" cy="1028700"/>
          </a:xfrm>
          <a:prstGeom prst="roundRect">
            <a:avLst>
              <a:gd name="adj" fmla="val 6584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4942332" y="3762756"/>
            <a:ext cx="24579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Organization: [Your Team]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3714" y="411480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Version: 1.0 | Date: 2025-10-31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89227" y="5143500"/>
            <a:ext cx="6753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 maintenance predictable, documented, and continuously improving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289182" y="6314846"/>
            <a:ext cx="676656" cy="314554"/>
          </a:xfrm>
          <a:prstGeom prst="roundRect">
            <a:avLst>
              <a:gd name="adj" fmla="val 35236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11403482" y="6408115"/>
            <a:ext cx="114300" cy="1335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594592" y="6372454"/>
            <a:ext cx="357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39054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 of Contents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580998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System Overview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81505"/>
            <a:ext cx="1438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Purpose &amp; Goals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38109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Core Principles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781605"/>
            <a:ext cx="2067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Complexity Classification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3181198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Document Architecture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581705"/>
            <a:ext cx="2229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Role-based Responsibilities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33695" y="1580998"/>
            <a:ext cx="1705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 Onboarding Process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33695" y="1981505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 Standard Workflow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33695" y="2381098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 Continuous Improvement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33695" y="2781605"/>
            <a:ext cx="2153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10. Appendix &amp; Real Example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33695" y="3181198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 Closing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64200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Overview — Introduction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714500"/>
            <a:ext cx="152705" cy="1527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8505" y="1619402"/>
            <a:ext cx="9673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it is: An AI-assisted maintenance operating model enabling non-developers to safely perform routine code changes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2104949"/>
            <a:ext cx="15270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8505" y="2009851"/>
            <a:ext cx="61392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now: Reduce dev bottlenecks, speed up small fixes, standardize quality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2495398"/>
            <a:ext cx="152705" cy="1527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38505" y="2400300"/>
            <a:ext cx="81015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it works: Process-first design, guardrails (docs, testing, reviews), and AI as a guided collaborator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69915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Purpose &amp; Goals and Business Value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19402"/>
            <a:ext cx="13432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Objectives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2247595"/>
            <a:ext cx="152705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505" y="2152498"/>
            <a:ext cx="39392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Empower non-developers to make safe changes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2657246"/>
            <a:ext cx="152705" cy="152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8505" y="2562149"/>
            <a:ext cx="3033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Standardize maintenance workflows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3066898"/>
            <a:ext cx="152705" cy="1527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38505" y="2971800"/>
            <a:ext cx="33677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Institutionalize knowledge and learnings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3476549"/>
            <a:ext cx="152705" cy="15270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286500" y="1619402"/>
            <a:ext cx="18105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Value</a:t>
            </a:r>
            <a:endParaRPr lang="en-US" sz="1800" dirty="0"/>
          </a:p>
        </p:txBody>
      </p:sp>
      <p:sp>
        <p:nvSpPr>
          <p:cNvPr id="13" name="Text 7"/>
          <p:cNvSpPr txBox="1"/>
          <p:nvPr/>
        </p:nvSpPr>
        <p:spPr>
          <a:xfrm>
            <a:off x="838505" y="3381451"/>
            <a:ext cx="3510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a safe environment for code changes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3886200"/>
            <a:ext cx="152705" cy="1527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38505" y="3791102"/>
            <a:ext cx="23957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Internalize effective AI usage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2247595"/>
            <a:ext cx="152705" cy="1527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553505" y="2152498"/>
            <a:ext cx="3357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Free developer capacity for core features</a:t>
            </a:r>
            <a:endParaRPr lang="en-US" sz="13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2657246"/>
            <a:ext cx="152705" cy="15270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553505" y="2562149"/>
            <a:ext cx="26627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Predictable delivery and quality</a:t>
            </a:r>
            <a:endParaRPr lang="en-US" sz="13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3066898"/>
            <a:ext cx="152705" cy="15270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553505" y="2971800"/>
            <a:ext cx="2671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Lower onboarding time and risk</a:t>
            </a:r>
            <a:endParaRPr lang="en-US" sz="13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0" y="3476549"/>
            <a:ext cx="152705" cy="15270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6553505" y="3381451"/>
            <a:ext cx="3033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Higher team-wide productivity via AI</a:t>
            </a:r>
            <a:endParaRPr lang="en-US" sz="13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50868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Operating Principles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9846" y="1714500"/>
            <a:ext cx="152705" cy="1527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5198" y="1619402"/>
            <a:ext cx="65205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1) Safety First: Git backups, staged verification, developer reviews when required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9846" y="2180844"/>
            <a:ext cx="15270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5198" y="2085746"/>
            <a:ext cx="45774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2) Stage-by-Stage Verification: Gate criteria at every step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619049" y="2648102"/>
            <a:ext cx="114300" cy="1527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95198" y="2553005"/>
            <a:ext cx="59966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3) Documentation: Requests, analysis, implementation logs, tests, lessons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580644" y="3114446"/>
            <a:ext cx="190195" cy="15270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95198" y="3019349"/>
            <a:ext cx="5748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4) AI Is a Tool, Not a Judge: Human final decisions based on constraints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580644" y="3581705"/>
            <a:ext cx="190195" cy="15270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95198" y="3486607"/>
            <a:ext cx="57680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5) AI Collaboration: Provide project context to raise accuracy and safety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50392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Complexity Classification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857146"/>
            <a:ext cx="11048695" cy="76169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71500" y="2762402"/>
            <a:ext cx="11048695" cy="76169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71500" y="3666744"/>
            <a:ext cx="11048695" cy="76169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71500" y="1857146"/>
            <a:ext cx="2762402" cy="761695"/>
          </a:xfrm>
          <a:prstGeom prst="roundRect">
            <a:avLst>
              <a:gd name="adj" fmla="val 9004"/>
            </a:avLst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3333902" y="1857146"/>
            <a:ext cx="2210105" cy="761695"/>
          </a:xfrm>
          <a:prstGeom prst="rect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544007" y="1857146"/>
            <a:ext cx="6077102" cy="761695"/>
          </a:xfrm>
          <a:prstGeom prst="rect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71500" y="2762402"/>
            <a:ext cx="2762402" cy="761695"/>
          </a:xfrm>
          <a:prstGeom prst="roundRect">
            <a:avLst>
              <a:gd name="adj" fmla="val 9004"/>
            </a:avLst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3333902" y="2762402"/>
            <a:ext cx="2210105" cy="761695"/>
          </a:xfrm>
          <a:prstGeom prst="rect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5544007" y="2762402"/>
            <a:ext cx="6077102" cy="761695"/>
          </a:xfrm>
          <a:prstGeom prst="rect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571500" y="3666744"/>
            <a:ext cx="2762402" cy="761695"/>
          </a:xfrm>
          <a:prstGeom prst="roundRect">
            <a:avLst>
              <a:gd name="adj" fmla="val 9004"/>
            </a:avLst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3333902" y="3666744"/>
            <a:ext cx="2210105" cy="761695"/>
          </a:xfrm>
          <a:prstGeom prst="rect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5544007" y="3666744"/>
            <a:ext cx="6077102" cy="761695"/>
          </a:xfrm>
          <a:prstGeom prst="rect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771754" y="2057400"/>
            <a:ext cx="809244" cy="362102"/>
          </a:xfrm>
          <a:prstGeom prst="roundRect">
            <a:avLst>
              <a:gd name="adj" fmla="val 26582"/>
            </a:avLst>
          </a:prstGeom>
          <a:solidFill>
            <a:srgbClr val="4BC04B">
              <a:alpha val="20000"/>
            </a:srgbClr>
          </a:solidFill>
          <a:ln w="12700">
            <a:solidFill>
              <a:srgbClr val="4BC04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895198" y="2124151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C0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🟢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4098" y="2072030"/>
            <a:ext cx="9573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15–30 min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24098" y="2976372"/>
            <a:ext cx="909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1–2 hours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524098" y="3881628"/>
            <a:ext cx="10433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Dev-owned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734202" y="2124151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Non-dev can implement independently with AI guidance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734202" y="3029407"/>
            <a:ext cx="4743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Non-dev + AI implement, developer review required before merge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734202" y="3933749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Non-dev stops and files formal dev request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1754" y="2962656"/>
            <a:ext cx="1095451" cy="362102"/>
          </a:xfrm>
          <a:prstGeom prst="roundRect">
            <a:avLst>
              <a:gd name="adj" fmla="val 26582"/>
            </a:avLst>
          </a:prstGeom>
          <a:solidFill>
            <a:srgbClr val="FFC107">
              <a:alpha val="20000"/>
            </a:srgbClr>
          </a:solidFill>
          <a:ln w="12700">
            <a:solidFill>
              <a:srgbClr val="FFC10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895198" y="3029407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C1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 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1754" y="3866998"/>
            <a:ext cx="857707" cy="362102"/>
          </a:xfrm>
          <a:prstGeom prst="roundRect">
            <a:avLst>
              <a:gd name="adj" fmla="val 26582"/>
            </a:avLst>
          </a:prstGeom>
          <a:solidFill>
            <a:srgbClr val="DC3545">
              <a:alpha val="20000"/>
            </a:srgbClr>
          </a:solidFill>
          <a:ln w="12700">
            <a:solidFill>
              <a:srgbClr val="DC354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 txBox="1"/>
          <p:nvPr/>
        </p:nvSpPr>
        <p:spPr>
          <a:xfrm>
            <a:off x="895198" y="3933749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35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1500" y="4809744"/>
            <a:ext cx="28346" cy="228600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790956" y="4809744"/>
            <a:ext cx="4743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Gate: Classification decides path, review needs, and safety checks</a:t>
            </a:r>
            <a:endParaRPr lang="en-US" sz="12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34656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80494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Document Architecture — 2-Level + Living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623621" y="1714500"/>
            <a:ext cx="133502" cy="1527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23544" y="1619402"/>
            <a:ext cx="11192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 (Meta)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23544" y="2009851"/>
            <a:ext cx="47960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Cross-project process, workflow, templates; rarely changes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23544" y="2266798"/>
            <a:ext cx="33393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Defines HOW we work across all projects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2571" y="4219956"/>
            <a:ext cx="31482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Defines WHAT is unique to this project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23544" y="5266944"/>
            <a:ext cx="12435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 (Living)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23544" y="5658307"/>
            <a:ext cx="48819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Evolving examples, prompts, runbooks from real operations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23544" y="5915254"/>
            <a:ext cx="3672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Captures EXPERIENCE gained from real work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23544" y="2600554"/>
            <a:ext cx="4934102" cy="409651"/>
          </a:xfrm>
          <a:prstGeom prst="roundRect">
            <a:avLst>
              <a:gd name="adj" fmla="val 31146"/>
            </a:avLst>
          </a:prstGeom>
          <a:solidFill>
            <a:srgbClr val="66B2FF">
              <a:alpha val="1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 txBox="1"/>
          <p:nvPr/>
        </p:nvSpPr>
        <p:spPr>
          <a:xfrm>
            <a:off x="1037844" y="2676449"/>
            <a:ext cx="4834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Like a city's building code — universal rules for all buildings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628193" y="3409798"/>
            <a:ext cx="114300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12571" y="3314700"/>
            <a:ext cx="13478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 (Project)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912571" y="3705149"/>
            <a:ext cx="433882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Project-specific context, constraints, testing; changes occasionally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638544" y="2628900"/>
            <a:ext cx="24533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L0-WORKFLOW-MASTER.md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638544" y="2885846"/>
            <a:ext cx="2520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L0-HANDOFF-CHECKLIST.md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638544" y="3143707"/>
            <a:ext cx="2272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L0-DOCUMENT-INDEX.md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638544" y="5762549"/>
            <a:ext cx="3443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L2-EXAMPLES.md (success/failure cases)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638544" y="6019495"/>
            <a:ext cx="34719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L2-PROMPTS.md (proven AI interactions)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12571" y="4552798"/>
            <a:ext cx="5000854" cy="409651"/>
          </a:xfrm>
          <a:prstGeom prst="roundRect">
            <a:avLst>
              <a:gd name="adj" fmla="val 31146"/>
            </a:avLst>
          </a:prstGeom>
          <a:solidFill>
            <a:srgbClr val="66B2FF">
              <a:alpha val="1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3" name="Text 19"/>
          <p:cNvSpPr txBox="1"/>
          <p:nvPr/>
        </p:nvSpPr>
        <p:spPr>
          <a:xfrm>
            <a:off x="1026871" y="4629607"/>
            <a:ext cx="4662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Like a neighborhood plan — specific to each area's needs</a:t>
            </a:r>
            <a:endParaRPr lang="en-US" sz="13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4477" y="5362956"/>
            <a:ext cx="152705" cy="152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638544" y="4067251"/>
            <a:ext cx="2376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L1-CLAUDE.md (AI context)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638544" y="4324198"/>
            <a:ext cx="24432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L1-COMPLEXITY-MATRIX.md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638544" y="4581144"/>
            <a:ext cx="19293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L1-CONSTRAINTS.md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638544" y="4839005"/>
            <a:ext cx="14813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L1-TESTING.md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923544" y="6248095"/>
            <a:ext cx="4753051" cy="409651"/>
          </a:xfrm>
          <a:prstGeom prst="roundRect">
            <a:avLst>
              <a:gd name="adj" fmla="val 31146"/>
            </a:avLst>
          </a:prstGeom>
          <a:solidFill>
            <a:srgbClr val="66B2FF">
              <a:alpha val="1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0" name="Text 25"/>
          <p:cNvSpPr txBox="1"/>
          <p:nvPr/>
        </p:nvSpPr>
        <p:spPr>
          <a:xfrm>
            <a:off x="1037844" y="6324905"/>
            <a:ext cx="43863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Like community tips — shared wisdom from residents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286500" y="1619402"/>
            <a:ext cx="28483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Documents by Level</a:t>
            </a:r>
            <a:endParaRPr lang="en-US" sz="18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6348679" y="2247595"/>
            <a:ext cx="114300" cy="15270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638544" y="2200046"/>
            <a:ext cx="8485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6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 Docs</a:t>
            </a:r>
            <a:endParaRPr lang="en-US" sz="15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6348679" y="3685946"/>
            <a:ext cx="114300" cy="1527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638544" y="3638398"/>
            <a:ext cx="8485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6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 Docs</a:t>
            </a:r>
            <a:endParaRPr lang="en-US" sz="15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6348679" y="5381244"/>
            <a:ext cx="114300" cy="15270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638544" y="5333695"/>
            <a:ext cx="8485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6F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 Docs</a:t>
            </a:r>
            <a:endParaRPr lang="en-US" sz="15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>
            <a:alphaModFix amt="5000"/>
          </a:blip>
          <a:srcRect l="-30904" r="-30904"/>
          <a:stretch/>
        </p:blipFill>
        <p:spPr>
          <a:xfrm>
            <a:off x="0" y="0"/>
            <a:ext cx="12191695" cy="75346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54489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Role-based Responsibilities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19402"/>
            <a:ext cx="13057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571500" y="2247595"/>
            <a:ext cx="190195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5995" y="2152498"/>
            <a:ext cx="1729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Initialize L1, seed L2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571500" y="2657246"/>
            <a:ext cx="133502" cy="152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19302" y="2562149"/>
            <a:ext cx="2110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 MEDIUM changes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3066898"/>
            <a:ext cx="152705" cy="1527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38505" y="2971800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 HIGH tasks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286500" y="1619402"/>
            <a:ext cx="18288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Non-developer</a:t>
            </a:r>
            <a:endParaRPr lang="en-US" sz="1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86500" y="2247595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53505" y="2152498"/>
            <a:ext cx="1767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 5-step workflow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6286500" y="2657246"/>
            <a:ext cx="133502" cy="1527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534302" y="2562149"/>
            <a:ext cx="20244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Update L2 continuously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86500" y="3066898"/>
            <a:ext cx="152705" cy="1527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286500" y="3534156"/>
            <a:ext cx="3913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1800" dirty="0"/>
          </a:p>
        </p:txBody>
      </p:sp>
      <p:sp>
        <p:nvSpPr>
          <p:cNvPr id="18" name="Text 10"/>
          <p:cNvSpPr txBox="1"/>
          <p:nvPr/>
        </p:nvSpPr>
        <p:spPr>
          <a:xfrm>
            <a:off x="6553505" y="2971800"/>
            <a:ext cx="2462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Drive monthly improvements</a:t>
            </a:r>
            <a:endParaRPr lang="en-US" sz="13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6286500" y="4162349"/>
            <a:ext cx="190195" cy="15270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590995" y="4067251"/>
            <a:ext cx="21863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Assist complexity analysis</a:t>
            </a:r>
            <a:endParaRPr lang="en-US" sz="13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286500" y="4572000"/>
            <a:ext cx="152705" cy="15270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553505" y="4476902"/>
            <a:ext cx="35771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Provide stepwise implementation guidance</a:t>
            </a:r>
            <a:endParaRPr lang="en-US" sz="13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286500" y="4981651"/>
            <a:ext cx="152705" cy="15270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553505" y="4886554"/>
            <a:ext cx="33293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Support error analysis and test planning</a:t>
            </a:r>
            <a:endParaRPr lang="en-US" sz="13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76681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 (Meta Docs) — The Operating Manual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19402"/>
            <a:ext cx="10954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Purpose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571500" y="2200046"/>
            <a:ext cx="133502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1500" y="2686507"/>
            <a:ext cx="11722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Docs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19302" y="2104949"/>
            <a:ext cx="37005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Standardize HOW we work across all projects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571500" y="3267151"/>
            <a:ext cx="114300" cy="152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0100" y="3172054"/>
            <a:ext cx="47960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L0-WORKFLOW-MASTER.md: Steps 0–5 canonical workflow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571500" y="3657600"/>
            <a:ext cx="114300" cy="152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" y="3562502"/>
            <a:ext cx="54534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L0-HANDOFF-CHECKLIST.md: Project onboarding checklist for devs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571500" y="4048049"/>
            <a:ext cx="114300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71500" y="4533595"/>
            <a:ext cx="13816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Ownership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800100" y="3952951"/>
            <a:ext cx="37581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L0-DOCUMENT-INDEX.md: Where to find what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571500" y="5115154"/>
            <a:ext cx="190195" cy="15270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75995" y="5020056"/>
            <a:ext cx="3814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owners; updated quarterly/biannually</a:t>
            </a:r>
            <a:endParaRPr lang="en-US" sz="13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79534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 (Project Docs) — The Project Blueprint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714500"/>
            <a:ext cx="152705" cy="1527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8505" y="1619402"/>
            <a:ext cx="55677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Purpose: Provide AI and users with project-specific context and rules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571500" y="2104949"/>
            <a:ext cx="114300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0100" y="2009851"/>
            <a:ext cx="9006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Docs: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990295" y="2364638"/>
            <a:ext cx="105156" cy="1719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90549" y="2266798"/>
            <a:ext cx="4920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L1-CLAUDE.md: Architecture, structure, commands, key files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990295" y="2764231"/>
            <a:ext cx="105156" cy="171907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90549" y="2667305"/>
            <a:ext cx="58347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L1-COMPLEXITY-MATRIX.md: What is LOW/MEDIUM/HIGH for this project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990295" y="3164738"/>
            <a:ext cx="105156" cy="171907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90549" y="3066898"/>
            <a:ext cx="45482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L1-CONSTRAINTS.md: Do-not-touch areas and rationale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rcRect t="-1087" b="-1087"/>
          <a:stretch/>
        </p:blipFill>
        <p:spPr>
          <a:xfrm>
            <a:off x="990295" y="3564331"/>
            <a:ext cx="105156" cy="171907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190549" y="3467405"/>
            <a:ext cx="46817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L1-TESTING.md: Minimal, functional, and regression tests</a:t>
            </a:r>
            <a:endParaRPr lang="en-US" sz="13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571500" y="4076395"/>
            <a:ext cx="190195" cy="1527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75995" y="3981298"/>
            <a:ext cx="39392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Ownership: Dev (init) → Non-dev (maintenance)</a:t>
            </a:r>
            <a:endParaRPr lang="en-US" sz="13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64584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 (Living Docs) — The Team Wiki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19402"/>
            <a:ext cx="10954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Purpose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571500" y="2200046"/>
            <a:ext cx="171907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1500" y="2495398"/>
            <a:ext cx="18955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Documents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7707" y="2104949"/>
            <a:ext cx="4929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Capture real successes and failures to accelerate future tasks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571500" y="3076956"/>
            <a:ext cx="114300" cy="152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1500" y="4638751"/>
            <a:ext cx="9811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Benefit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00100" y="2980944"/>
            <a:ext cx="5777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L2-EXAMPLES.md: Success/failure cases with steps and lessons learned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3467405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" y="3762756"/>
            <a:ext cx="11722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Behavior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838505" y="3372307"/>
            <a:ext cx="5853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L2-PROMPTS.md: Effective, reusable AI prompts validated by experience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" y="4343400"/>
            <a:ext cx="152705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8505" y="4248302"/>
            <a:ext cx="65013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Updated after every maintenance cycle to ensure continuous knowledge growth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1500" y="5219395"/>
            <a:ext cx="152705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38505" y="5124298"/>
            <a:ext cx="6177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Shorter learning curve for new team members and more accurate AI outputs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71725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Project Onboarding —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429207"/>
            <a:ext cx="11048695" cy="1772107"/>
          </a:xfrm>
          <a:prstGeom prst="roundRect">
            <a:avLst>
              <a:gd name="adj" fmla="val 2219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 txBox="1"/>
          <p:nvPr/>
        </p:nvSpPr>
        <p:spPr>
          <a:xfrm>
            <a:off x="857707" y="1619402"/>
            <a:ext cx="629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Goal: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7707" y="1981505"/>
            <a:ext cx="5101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Enable non-developers to maintain the project with AI support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2752344"/>
            <a:ext cx="21963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6–8 hours across 1–2 days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7707" y="2391156"/>
            <a:ext cx="16486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Estimated Time: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31959" y="4153205"/>
            <a:ext cx="1990649" cy="19202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115288" y="4153205"/>
            <a:ext cx="1990649" cy="19202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7973396" y="4153205"/>
            <a:ext cx="1990649" cy="19202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Shape 10"/>
          <p:cNvSpPr/>
          <p:nvPr/>
        </p:nvSpPr>
        <p:spPr>
          <a:xfrm>
            <a:off x="1405433" y="3771900"/>
            <a:ext cx="761695" cy="761695"/>
          </a:xfrm>
          <a:prstGeom prst="ellipse">
            <a:avLst/>
          </a:prstGeom>
          <a:solidFill>
            <a:srgbClr val="66B2FF">
              <a:alpha val="15000"/>
            </a:srgbClr>
          </a:solidFill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1"/>
          <p:cNvSpPr/>
          <p:nvPr/>
        </p:nvSpPr>
        <p:spPr>
          <a:xfrm>
            <a:off x="7151522" y="3771900"/>
            <a:ext cx="761695" cy="761695"/>
          </a:xfrm>
          <a:prstGeom prst="ellipse">
            <a:avLst/>
          </a:prstGeom>
          <a:solidFill>
            <a:srgbClr val="66B2FF">
              <a:alpha val="15000"/>
            </a:srgbClr>
          </a:solidFill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2"/>
          <p:cNvSpPr/>
          <p:nvPr/>
        </p:nvSpPr>
        <p:spPr>
          <a:xfrm>
            <a:off x="1094714" y="3676802"/>
            <a:ext cx="286207" cy="286207"/>
          </a:xfrm>
          <a:prstGeom prst="ellipse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3"/>
          <p:cNvSpPr txBox="1"/>
          <p:nvPr/>
        </p:nvSpPr>
        <p:spPr>
          <a:xfrm>
            <a:off x="1192555" y="37051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9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1672438" y="4000500"/>
            <a:ext cx="228600" cy="30449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278478" y="3771900"/>
            <a:ext cx="761695" cy="761695"/>
          </a:xfrm>
          <a:prstGeom prst="ellipse">
            <a:avLst/>
          </a:prstGeom>
          <a:solidFill>
            <a:srgbClr val="66B2FF">
              <a:alpha val="15000"/>
            </a:srgbClr>
          </a:solidFill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5"/>
          <p:cNvSpPr/>
          <p:nvPr/>
        </p:nvSpPr>
        <p:spPr>
          <a:xfrm>
            <a:off x="10023653" y="3771900"/>
            <a:ext cx="761695" cy="761695"/>
          </a:xfrm>
          <a:prstGeom prst="ellipse">
            <a:avLst/>
          </a:prstGeom>
          <a:solidFill>
            <a:srgbClr val="66B2FF">
              <a:alpha val="15000"/>
            </a:srgbClr>
          </a:solidFill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6"/>
          <p:cNvSpPr/>
          <p:nvPr/>
        </p:nvSpPr>
        <p:spPr>
          <a:xfrm>
            <a:off x="3966845" y="3676802"/>
            <a:ext cx="286207" cy="286207"/>
          </a:xfrm>
          <a:prstGeom prst="ellipse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Shape 17"/>
          <p:cNvSpPr/>
          <p:nvPr/>
        </p:nvSpPr>
        <p:spPr>
          <a:xfrm>
            <a:off x="6839890" y="3676802"/>
            <a:ext cx="286207" cy="286207"/>
          </a:xfrm>
          <a:prstGeom prst="ellipse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Shape 18"/>
          <p:cNvSpPr/>
          <p:nvPr/>
        </p:nvSpPr>
        <p:spPr>
          <a:xfrm>
            <a:off x="9712934" y="3676802"/>
            <a:ext cx="286207" cy="286207"/>
          </a:xfrm>
          <a:prstGeom prst="ellipse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3" name="Text 19"/>
          <p:cNvSpPr txBox="1"/>
          <p:nvPr/>
        </p:nvSpPr>
        <p:spPr>
          <a:xfrm>
            <a:off x="4064686" y="37051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9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937730" y="37051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9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9810775" y="37051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9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374343" y="4686300"/>
            <a:ext cx="9573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Docs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788506" y="4686300"/>
            <a:ext cx="16248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Validation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61111" y="5009998"/>
            <a:ext cx="23719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L1/L2 documentation for project context</a:t>
            </a:r>
            <a:endParaRPr lang="en-US" sz="12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4468673" y="4000500"/>
            <a:ext cx="381305" cy="30449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3830422" y="4686300"/>
            <a:ext cx="17958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 &amp; Env Cleanup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3531413" y="5009998"/>
            <a:ext cx="23719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Improve comments, extract configs, remove magic numbers</a:t>
            </a:r>
            <a:endParaRPr lang="en-US" sz="1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7398410" y="4000500"/>
            <a:ext cx="267005" cy="3044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652260" y="5009998"/>
            <a:ext cx="187726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docs sufficiency and reproduce examples</a:t>
            </a:r>
            <a:endParaRPr lang="en-US" sz="12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10214762" y="4000500"/>
            <a:ext cx="381305" cy="30449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622231" y="4686300"/>
            <a:ext cx="1700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Training &amp; Support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9228125" y="5009998"/>
            <a:ext cx="24771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team and provide follow-up support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499" y="580644"/>
            <a:ext cx="1001933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Onboarding — Step 1: Core Docs (#1/2)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619402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24205" y="1790395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1848002"/>
            <a:ext cx="133502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3023006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Shape 5"/>
          <p:cNvSpPr/>
          <p:nvPr/>
        </p:nvSpPr>
        <p:spPr>
          <a:xfrm>
            <a:off x="571500" y="4427525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724205" y="3194914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0"/>
          <p:cNvSpPr/>
          <p:nvPr/>
        </p:nvSpPr>
        <p:spPr>
          <a:xfrm>
            <a:off x="724205" y="4598518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4"/>
          <p:cNvSpPr txBox="1"/>
          <p:nvPr/>
        </p:nvSpPr>
        <p:spPr>
          <a:xfrm>
            <a:off x="1143000" y="1772107"/>
            <a:ext cx="1534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L1-CLAUDE.md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175711"/>
            <a:ext cx="27057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L1-COMPLEXITY-MATRIX.md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2104949"/>
            <a:ext cx="7058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context document containing architecture, structure, commands, and key files information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509467"/>
            <a:ext cx="5677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Specific examples defining LOW/MEDIUM/HIGH complexity tiers for this project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143000" y="2403958"/>
            <a:ext cx="1086307" cy="276149"/>
          </a:xfrm>
          <a:prstGeom prst="roundRect">
            <a:avLst>
              <a:gd name="adj" fmla="val 45672"/>
            </a:avLst>
          </a:prstGeom>
          <a:solidFill>
            <a:srgbClr val="66B2FF">
              <a:alpha val="20000"/>
            </a:srgbClr>
          </a:solidFill>
          <a:ln w="12700">
            <a:solidFill>
              <a:srgbClr val="66B2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4"/>
          <p:cNvSpPr/>
          <p:nvPr/>
        </p:nvSpPr>
        <p:spPr>
          <a:xfrm>
            <a:off x="1143000" y="3808476"/>
            <a:ext cx="1086307" cy="276149"/>
          </a:xfrm>
          <a:prstGeom prst="roundRect">
            <a:avLst>
              <a:gd name="adj" fmla="val 45672"/>
            </a:avLst>
          </a:prstGeom>
          <a:solidFill>
            <a:srgbClr val="66B2FF">
              <a:alpha val="20000"/>
            </a:srgbClr>
          </a:solidFill>
          <a:ln w="12700">
            <a:solidFill>
              <a:srgbClr val="66B2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5"/>
          <p:cNvSpPr/>
          <p:nvPr/>
        </p:nvSpPr>
        <p:spPr>
          <a:xfrm>
            <a:off x="1143000" y="5212080"/>
            <a:ext cx="1086307" cy="276149"/>
          </a:xfrm>
          <a:prstGeom prst="roundRect">
            <a:avLst>
              <a:gd name="adj" fmla="val 45672"/>
            </a:avLst>
          </a:prstGeom>
          <a:solidFill>
            <a:srgbClr val="66B2FF">
              <a:alpha val="20000"/>
            </a:srgbClr>
          </a:solidFill>
          <a:ln w="12700">
            <a:solidFill>
              <a:srgbClr val="66B2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6"/>
          <p:cNvSpPr txBox="1"/>
          <p:nvPr/>
        </p:nvSpPr>
        <p:spPr>
          <a:xfrm>
            <a:off x="1228954" y="2442362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 Project Doc</a:t>
            </a:r>
            <a:endParaRPr lang="en-US" sz="10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3251606"/>
            <a:ext cx="133502" cy="152705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228954" y="3845966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 Project Doc</a:t>
            </a:r>
            <a:endParaRPr lang="en-US" sz="10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4656125"/>
            <a:ext cx="133502" cy="15270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143000" y="4579315"/>
            <a:ext cx="21058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L1-CONSTRAINTS.md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143000" y="4913071"/>
            <a:ext cx="5382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 lines and boundaries defining do-not-touch areas with clear rationales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228954" y="5250485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 Project Doc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FA24-24A5-CD15-8584-65398B287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E39B6D-4327-B1F0-D129-16E23DB0C2A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301E78-4CF2-FAE8-D487-579A034EFA95}"/>
              </a:ext>
            </a:extLst>
          </p:cNvPr>
          <p:cNvSpPr txBox="1"/>
          <p:nvPr/>
        </p:nvSpPr>
        <p:spPr>
          <a:xfrm>
            <a:off x="571499" y="580644"/>
            <a:ext cx="902391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Onboarding — Step 1: Core Docs (#2/2)</a:t>
            </a:r>
            <a:endParaRPr lang="en-US" sz="30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0F87FD0-2C4A-B33C-57FF-76046CDC9671}"/>
              </a:ext>
            </a:extLst>
          </p:cNvPr>
          <p:cNvSpPr/>
          <p:nvPr/>
        </p:nvSpPr>
        <p:spPr>
          <a:xfrm>
            <a:off x="571500" y="2057778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64E3463-99EB-940E-F598-09AF89DC5604}"/>
              </a:ext>
            </a:extLst>
          </p:cNvPr>
          <p:cNvSpPr/>
          <p:nvPr/>
        </p:nvSpPr>
        <p:spPr>
          <a:xfrm>
            <a:off x="571500" y="3462296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3E0D9F5-2B85-7689-519D-AF1929EC8381}"/>
              </a:ext>
            </a:extLst>
          </p:cNvPr>
          <p:cNvSpPr/>
          <p:nvPr/>
        </p:nvSpPr>
        <p:spPr>
          <a:xfrm>
            <a:off x="571500" y="4865900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7AC6D55-A627-3D6D-8739-D67C60D7544B}"/>
              </a:ext>
            </a:extLst>
          </p:cNvPr>
          <p:cNvSpPr/>
          <p:nvPr/>
        </p:nvSpPr>
        <p:spPr>
          <a:xfrm>
            <a:off x="724205" y="2229685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63E0897-28AB-744C-9C0B-9854D505FEDB}"/>
              </a:ext>
            </a:extLst>
          </p:cNvPr>
          <p:cNvSpPr/>
          <p:nvPr/>
        </p:nvSpPr>
        <p:spPr>
          <a:xfrm>
            <a:off x="724205" y="3633289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2E829A2-A9E6-F132-459A-32EB1FB267B0}"/>
              </a:ext>
            </a:extLst>
          </p:cNvPr>
          <p:cNvSpPr/>
          <p:nvPr/>
        </p:nvSpPr>
        <p:spPr>
          <a:xfrm>
            <a:off x="724205" y="5037807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770CFA0-1501-0FBC-2F42-7BCA78153B02}"/>
              </a:ext>
            </a:extLst>
          </p:cNvPr>
          <p:cNvSpPr txBox="1"/>
          <p:nvPr/>
        </p:nvSpPr>
        <p:spPr>
          <a:xfrm>
            <a:off x="1143000" y="2210483"/>
            <a:ext cx="15910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L1-TESTING.md</a:t>
            </a:r>
            <a:endParaRPr lang="en-US" sz="15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2754829-62A8-EA8B-300B-515B3BF6234E}"/>
              </a:ext>
            </a:extLst>
          </p:cNvPr>
          <p:cNvSpPr txBox="1"/>
          <p:nvPr/>
        </p:nvSpPr>
        <p:spPr>
          <a:xfrm>
            <a:off x="1143000" y="3614087"/>
            <a:ext cx="1772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L2-EXAMPLES.md</a:t>
            </a:r>
            <a:endParaRPr lang="en-US" sz="15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8C8E31C-6265-3515-2AA0-FCCF8C9B2CD7}"/>
              </a:ext>
            </a:extLst>
          </p:cNvPr>
          <p:cNvSpPr txBox="1"/>
          <p:nvPr/>
        </p:nvSpPr>
        <p:spPr>
          <a:xfrm>
            <a:off x="1143000" y="5018605"/>
            <a:ext cx="1705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L2-PROMPTS.md</a:t>
            </a:r>
            <a:endParaRPr lang="en-US" sz="15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9E0E493-1270-09C3-433B-37765F23C28A}"/>
              </a:ext>
            </a:extLst>
          </p:cNvPr>
          <p:cNvSpPr txBox="1"/>
          <p:nvPr/>
        </p:nvSpPr>
        <p:spPr>
          <a:xfrm>
            <a:off x="1143000" y="3947843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3-5 initial success/failure cases to seed the knowledge base</a:t>
            </a:r>
            <a:endParaRPr lang="en-US" sz="12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3ED95CF-5938-F25A-AAAF-6D892AB9940E}"/>
              </a:ext>
            </a:extLst>
          </p:cNvPr>
          <p:cNvSpPr txBox="1"/>
          <p:nvPr/>
        </p:nvSpPr>
        <p:spPr>
          <a:xfrm>
            <a:off x="1143000" y="5351447"/>
            <a:ext cx="4258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AI prompt templates for different workflow stages</a:t>
            </a:r>
            <a:endParaRPr lang="en-US" sz="120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93580ADB-A0C3-FB31-25A0-768253E8EB83}"/>
              </a:ext>
            </a:extLst>
          </p:cNvPr>
          <p:cNvSpPr txBox="1"/>
          <p:nvPr/>
        </p:nvSpPr>
        <p:spPr>
          <a:xfrm>
            <a:off x="1143000" y="2544239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Explicit testing commands and procedures for verification</a:t>
            </a:r>
            <a:endParaRPr lang="en-US" sz="1200" dirty="0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2CE19B71-719D-F2EC-C36E-6FD55998D17A}"/>
              </a:ext>
            </a:extLst>
          </p:cNvPr>
          <p:cNvSpPr/>
          <p:nvPr/>
        </p:nvSpPr>
        <p:spPr>
          <a:xfrm>
            <a:off x="1143000" y="2843247"/>
            <a:ext cx="1086307" cy="276149"/>
          </a:xfrm>
          <a:prstGeom prst="roundRect">
            <a:avLst>
              <a:gd name="adj" fmla="val 45672"/>
            </a:avLst>
          </a:prstGeom>
          <a:solidFill>
            <a:srgbClr val="66B2FF">
              <a:alpha val="20000"/>
            </a:srgbClr>
          </a:solidFill>
          <a:ln w="12700">
            <a:solidFill>
              <a:srgbClr val="66B2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33A7D5DF-5278-B292-BBCB-561A4AF4C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2286378"/>
            <a:ext cx="133502" cy="152705"/>
          </a:xfrm>
          <a:prstGeom prst="rect">
            <a:avLst/>
          </a:prstGeom>
        </p:spPr>
      </p:pic>
      <p:sp>
        <p:nvSpPr>
          <p:cNvPr id="39" name="Text 33">
            <a:extLst>
              <a:ext uri="{FF2B5EF4-FFF2-40B4-BE49-F238E27FC236}">
                <a16:creationId xmlns:a16="http://schemas.microsoft.com/office/drawing/2014/main" id="{8EE98C96-A1C8-EF49-7D9D-6B468AD97DDD}"/>
              </a:ext>
            </a:extLst>
          </p:cNvPr>
          <p:cNvSpPr txBox="1"/>
          <p:nvPr/>
        </p:nvSpPr>
        <p:spPr>
          <a:xfrm>
            <a:off x="1228954" y="2880738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 Project Doc</a:t>
            </a:r>
            <a:endParaRPr lang="en-US" sz="1000" dirty="0"/>
          </a:p>
        </p:txBody>
      </p:sp>
      <p:pic>
        <p:nvPicPr>
          <p:cNvPr id="40" name="Image 4" descr="preencoded.png">
            <a:extLst>
              <a:ext uri="{FF2B5EF4-FFF2-40B4-BE49-F238E27FC236}">
                <a16:creationId xmlns:a16="http://schemas.microsoft.com/office/drawing/2014/main" id="{88446DF7-0C66-4EEA-6A2A-3A0932F307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3690896"/>
            <a:ext cx="133502" cy="152705"/>
          </a:xfrm>
          <a:prstGeom prst="rect">
            <a:avLst/>
          </a:prstGeom>
        </p:spPr>
      </p:pic>
      <p:sp>
        <p:nvSpPr>
          <p:cNvPr id="41" name="Shape 34">
            <a:extLst>
              <a:ext uri="{FF2B5EF4-FFF2-40B4-BE49-F238E27FC236}">
                <a16:creationId xmlns:a16="http://schemas.microsoft.com/office/drawing/2014/main" id="{61C913B9-2E30-8664-7B13-7C340933B085}"/>
              </a:ext>
            </a:extLst>
          </p:cNvPr>
          <p:cNvSpPr/>
          <p:nvPr/>
        </p:nvSpPr>
        <p:spPr>
          <a:xfrm>
            <a:off x="1143000" y="4246851"/>
            <a:ext cx="1019556" cy="276149"/>
          </a:xfrm>
          <a:prstGeom prst="roundRect">
            <a:avLst>
              <a:gd name="adj" fmla="val 45672"/>
            </a:avLst>
          </a:prstGeom>
          <a:solidFill>
            <a:srgbClr val="FFC107">
              <a:alpha val="20000"/>
            </a:srgbClr>
          </a:solidFill>
          <a:ln w="12700">
            <a:solidFill>
              <a:srgbClr val="FFC10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4031E531-6109-C34A-234D-49CCDEC1AEF8}"/>
              </a:ext>
            </a:extLst>
          </p:cNvPr>
          <p:cNvSpPr txBox="1"/>
          <p:nvPr/>
        </p:nvSpPr>
        <p:spPr>
          <a:xfrm>
            <a:off x="1228954" y="4285256"/>
            <a:ext cx="948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C1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 Living Doc</a:t>
            </a:r>
            <a:endParaRPr lang="en-US" sz="1000" dirty="0"/>
          </a:p>
        </p:txBody>
      </p:sp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4ADF76BB-4433-8C88-BA51-B7C5824C53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5094500"/>
            <a:ext cx="133502" cy="152705"/>
          </a:xfrm>
          <a:prstGeom prst="rect">
            <a:avLst/>
          </a:prstGeom>
        </p:spPr>
      </p:pic>
      <p:sp>
        <p:nvSpPr>
          <p:cNvPr id="44" name="Shape 36">
            <a:extLst>
              <a:ext uri="{FF2B5EF4-FFF2-40B4-BE49-F238E27FC236}">
                <a16:creationId xmlns:a16="http://schemas.microsoft.com/office/drawing/2014/main" id="{DEB5104B-138C-DBC9-EBA4-29EE7FF1CBD5}"/>
              </a:ext>
            </a:extLst>
          </p:cNvPr>
          <p:cNvSpPr/>
          <p:nvPr/>
        </p:nvSpPr>
        <p:spPr>
          <a:xfrm>
            <a:off x="1143000" y="5651370"/>
            <a:ext cx="1019556" cy="276149"/>
          </a:xfrm>
          <a:prstGeom prst="roundRect">
            <a:avLst>
              <a:gd name="adj" fmla="val 45672"/>
            </a:avLst>
          </a:prstGeom>
          <a:solidFill>
            <a:srgbClr val="FFC107">
              <a:alpha val="20000"/>
            </a:srgbClr>
          </a:solidFill>
          <a:ln w="12700">
            <a:solidFill>
              <a:srgbClr val="FFC10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2596C627-7144-AFD9-A441-C089A51DB04D}"/>
              </a:ext>
            </a:extLst>
          </p:cNvPr>
          <p:cNvSpPr txBox="1"/>
          <p:nvPr/>
        </p:nvSpPr>
        <p:spPr>
          <a:xfrm>
            <a:off x="1228954" y="5688860"/>
            <a:ext cx="948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C1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 Living Doc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88803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92747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98874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Onboarding — Step 2: Code &amp; Environment Cleanup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225861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24205" y="1396854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1454461"/>
            <a:ext cx="133502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2629465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Shape 5"/>
          <p:cNvSpPr/>
          <p:nvPr/>
        </p:nvSpPr>
        <p:spPr>
          <a:xfrm>
            <a:off x="571500" y="4033984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6"/>
          <p:cNvSpPr/>
          <p:nvPr/>
        </p:nvSpPr>
        <p:spPr>
          <a:xfrm>
            <a:off x="571500" y="5437588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724205" y="2801373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8"/>
          <p:cNvSpPr/>
          <p:nvPr/>
        </p:nvSpPr>
        <p:spPr>
          <a:xfrm>
            <a:off x="724205" y="4204977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724205" y="5609495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 txBox="1"/>
          <p:nvPr/>
        </p:nvSpPr>
        <p:spPr>
          <a:xfrm>
            <a:off x="1143000" y="1378566"/>
            <a:ext cx="3562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docstrings to all public functions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782170"/>
            <a:ext cx="43726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why-focused comments for complex logic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5590293"/>
            <a:ext cx="4420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Replace magic numbers with named constants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1711408"/>
            <a:ext cx="9934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Include purpose, parameters, and return values in all public function documentation to help AI and non-developers understand code intent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115926"/>
            <a:ext cx="8591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Explain the reasoning behind complex algorithms and business logic, focusing on 'why' rather than 'what' the code does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43000" y="2010417"/>
            <a:ext cx="1257300" cy="276149"/>
          </a:xfrm>
          <a:prstGeom prst="roundRect">
            <a:avLst>
              <a:gd name="adj" fmla="val 45672"/>
            </a:avLst>
          </a:prstGeom>
          <a:solidFill>
            <a:srgbClr val="2ECC71">
              <a:alpha val="20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6"/>
          <p:cNvSpPr/>
          <p:nvPr/>
        </p:nvSpPr>
        <p:spPr>
          <a:xfrm>
            <a:off x="1143000" y="3414935"/>
            <a:ext cx="1257300" cy="276149"/>
          </a:xfrm>
          <a:prstGeom prst="roundRect">
            <a:avLst>
              <a:gd name="adj" fmla="val 45672"/>
            </a:avLst>
          </a:prstGeom>
          <a:solidFill>
            <a:srgbClr val="2ECC71">
              <a:alpha val="20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7"/>
          <p:cNvSpPr/>
          <p:nvPr/>
        </p:nvSpPr>
        <p:spPr>
          <a:xfrm>
            <a:off x="1143000" y="4818539"/>
            <a:ext cx="1133856" cy="276149"/>
          </a:xfrm>
          <a:prstGeom prst="roundRect">
            <a:avLst>
              <a:gd name="adj" fmla="val 45672"/>
            </a:avLst>
          </a:prstGeom>
          <a:solidFill>
            <a:srgbClr val="2ECC71">
              <a:alpha val="20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8"/>
          <p:cNvSpPr txBox="1"/>
          <p:nvPr/>
        </p:nvSpPr>
        <p:spPr>
          <a:xfrm>
            <a:off x="1228954" y="2048821"/>
            <a:ext cx="11859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CC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 Readability</a:t>
            </a:r>
            <a:endParaRPr lang="en-US" sz="10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2858065"/>
            <a:ext cx="133502" cy="15270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28954" y="3452425"/>
            <a:ext cx="11859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CC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 Readability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4262584"/>
            <a:ext cx="133502" cy="152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143000" y="4185774"/>
            <a:ext cx="3657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Externalize configs to env or constants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1143000" y="4519530"/>
            <a:ext cx="8772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 URLs, file paths, API keys, and other frequently changing values to environment variables or dedicated constants files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143000" y="5924049"/>
            <a:ext cx="8363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Convert numeric literals in the code to descriptively named constants that clearly express their purpose and meaning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1143000" y="6223057"/>
            <a:ext cx="1133856" cy="276149"/>
          </a:xfrm>
          <a:prstGeom prst="roundRect">
            <a:avLst>
              <a:gd name="adj" fmla="val 45672"/>
            </a:avLst>
          </a:prstGeom>
          <a:solidFill>
            <a:srgbClr val="2ECC71">
              <a:alpha val="20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4"/>
          <p:cNvSpPr txBox="1"/>
          <p:nvPr/>
        </p:nvSpPr>
        <p:spPr>
          <a:xfrm>
            <a:off x="1228954" y="4856944"/>
            <a:ext cx="1062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CC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Maintainability</a:t>
            </a:r>
            <a:endParaRPr lang="en-US" sz="10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5666188"/>
            <a:ext cx="133502" cy="15270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228954" y="6260548"/>
            <a:ext cx="1062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CC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Maintainability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77632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Onboarding — Step 3: System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619402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24205" y="1790395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1848002"/>
            <a:ext cx="133502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3023006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Shape 5"/>
          <p:cNvSpPr/>
          <p:nvPr/>
        </p:nvSpPr>
        <p:spPr>
          <a:xfrm>
            <a:off x="571500" y="4427525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6"/>
          <p:cNvSpPr/>
          <p:nvPr/>
        </p:nvSpPr>
        <p:spPr>
          <a:xfrm>
            <a:off x="724205" y="3194914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724205" y="4598518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8"/>
          <p:cNvSpPr txBox="1"/>
          <p:nvPr/>
        </p:nvSpPr>
        <p:spPr>
          <a:xfrm>
            <a:off x="1143000" y="1772107"/>
            <a:ext cx="15627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Dry-run Project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175711"/>
            <a:ext cx="2543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Reproduce Example Cases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2104949"/>
            <a:ext cx="8248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run the entire project using only L1-CLAUDE.md and L1-TESTING.md as guides, without any additional support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3509467"/>
            <a:ext cx="7648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Follow the initial L2-EXAMPLES.md cases step-by-step and verify that outcomes match what's documented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2403958"/>
            <a:ext cx="1457554" cy="276149"/>
          </a:xfrm>
          <a:prstGeom prst="roundRect">
            <a:avLst>
              <a:gd name="adj" fmla="val 45672"/>
            </a:avLst>
          </a:prstGeom>
          <a:solidFill>
            <a:srgbClr val="5CDB95">
              <a:alpha val="20000"/>
            </a:srgbClr>
          </a:solidFill>
          <a:ln w="12700">
            <a:solidFill>
              <a:srgbClr val="5CDB9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3"/>
          <p:cNvSpPr/>
          <p:nvPr/>
        </p:nvSpPr>
        <p:spPr>
          <a:xfrm>
            <a:off x="1143000" y="3808476"/>
            <a:ext cx="1429207" cy="276149"/>
          </a:xfrm>
          <a:prstGeom prst="roundRect">
            <a:avLst>
              <a:gd name="adj" fmla="val 45672"/>
            </a:avLst>
          </a:prstGeom>
          <a:solidFill>
            <a:srgbClr val="5CDB95">
              <a:alpha val="20000"/>
            </a:srgbClr>
          </a:solidFill>
          <a:ln w="12700">
            <a:solidFill>
              <a:srgbClr val="5CDB9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4"/>
          <p:cNvSpPr/>
          <p:nvPr/>
        </p:nvSpPr>
        <p:spPr>
          <a:xfrm>
            <a:off x="1143000" y="5212080"/>
            <a:ext cx="1057046" cy="276149"/>
          </a:xfrm>
          <a:prstGeom prst="roundRect">
            <a:avLst>
              <a:gd name="adj" fmla="val 45672"/>
            </a:avLst>
          </a:prstGeom>
          <a:solidFill>
            <a:srgbClr val="5CDB95">
              <a:alpha val="20000"/>
            </a:srgbClr>
          </a:solidFill>
          <a:ln w="12700">
            <a:solidFill>
              <a:srgbClr val="5CDB9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 txBox="1"/>
          <p:nvPr/>
        </p:nvSpPr>
        <p:spPr>
          <a:xfrm>
            <a:off x="1228954" y="2442362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DB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Documentation Test</a:t>
            </a:r>
            <a:endParaRPr lang="en-US" sz="1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3251606"/>
            <a:ext cx="133502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28954" y="3845966"/>
            <a:ext cx="1357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DB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Validation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4656125"/>
            <a:ext cx="133502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43000" y="4579315"/>
            <a:ext cx="2638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Documentation Sufficiency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4913071"/>
            <a:ext cx="9220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Confirm all documentation is complete, unambiguous, and provides sufficient context for non-developers to work independently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228954" y="5250485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DB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Quality Check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10794839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Onboarding — Step 4: Training &amp; Support (#1/2)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19402"/>
            <a:ext cx="19623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Training Agenda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500" y="2200046"/>
            <a:ext cx="11048695" cy="866851"/>
          </a:xfrm>
          <a:prstGeom prst="roundRect">
            <a:avLst>
              <a:gd name="adj" fmla="val 695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71500" y="4208069"/>
            <a:ext cx="11048695" cy="866851"/>
          </a:xfrm>
          <a:prstGeom prst="roundRect">
            <a:avLst>
              <a:gd name="adj" fmla="val 695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71500" y="5212080"/>
            <a:ext cx="11048695" cy="866851"/>
          </a:xfrm>
          <a:prstGeom prst="roundRect">
            <a:avLst>
              <a:gd name="adj" fmla="val 695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24205" y="2371954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2428646"/>
            <a:ext cx="133502" cy="1527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1500" y="3204058"/>
            <a:ext cx="11048695" cy="866851"/>
          </a:xfrm>
          <a:prstGeom prst="roundRect">
            <a:avLst>
              <a:gd name="adj" fmla="val 695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Shape 12"/>
          <p:cNvSpPr/>
          <p:nvPr/>
        </p:nvSpPr>
        <p:spPr>
          <a:xfrm>
            <a:off x="724205" y="3375965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3"/>
          <p:cNvSpPr/>
          <p:nvPr/>
        </p:nvSpPr>
        <p:spPr>
          <a:xfrm>
            <a:off x="724205" y="5383987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7"/>
          <p:cNvSpPr txBox="1"/>
          <p:nvPr/>
        </p:nvSpPr>
        <p:spPr>
          <a:xfrm>
            <a:off x="1143000" y="2352751"/>
            <a:ext cx="3486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Overview &amp; 5-Step Workflow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5364785"/>
            <a:ext cx="2686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Prompting Best Practices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2686507"/>
            <a:ext cx="7039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Introduction to core principles, complexity classification, and the standard maintenance workflow</a:t>
            </a:r>
            <a:endParaRPr lang="en-US" sz="12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3432658"/>
            <a:ext cx="133502" cy="152705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24205" y="4379976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3"/>
          <p:cNvSpPr txBox="1"/>
          <p:nvPr/>
        </p:nvSpPr>
        <p:spPr>
          <a:xfrm>
            <a:off x="1143000" y="3356762"/>
            <a:ext cx="2895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L1/L2 Document Walkthrough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1143000" y="3689604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Hands-on exploration of project docs, constraints, and existing examples</a:t>
            </a:r>
            <a:endParaRPr lang="en-US" sz="12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4436669"/>
            <a:ext cx="133502" cy="15270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43000" y="4360774"/>
            <a:ext cx="2743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Simple Edit Practice Session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1143000" y="4693615"/>
            <a:ext cx="6353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Guided walkthrough of a basic change (e.g., timeout value) using the complete workflow</a:t>
            </a:r>
            <a:endParaRPr lang="en-US" sz="1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5440680"/>
            <a:ext cx="133502" cy="15270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143000" y="5697626"/>
            <a:ext cx="6191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Effective techniques for working with AI, providing context, and validating suggestions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ACBC8-123F-AFFC-C60F-F278A52B3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36BD70-2186-4977-FFCA-032FE5AB0DF6}"/>
              </a:ext>
            </a:extLst>
          </p:cNvPr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49F3ED-0DB3-1170-5130-4008DE8F72CF}"/>
              </a:ext>
            </a:extLst>
          </p:cNvPr>
          <p:cNvSpPr txBox="1"/>
          <p:nvPr/>
        </p:nvSpPr>
        <p:spPr>
          <a:xfrm>
            <a:off x="571500" y="580644"/>
            <a:ext cx="1104869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Onboarding — Step 4: Training &amp; Support (#2/2)</a:t>
            </a:r>
            <a:endParaRPr lang="en-US" sz="3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82F2ABC-0B8D-6C8E-DD24-49F88AECB4D4}"/>
              </a:ext>
            </a:extLst>
          </p:cNvPr>
          <p:cNvSpPr txBox="1"/>
          <p:nvPr/>
        </p:nvSpPr>
        <p:spPr>
          <a:xfrm>
            <a:off x="571500" y="2428760"/>
            <a:ext cx="37243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Follow-up Support (First Month)</a:t>
            </a:r>
            <a:endParaRPr lang="en-US" sz="18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4CD0933-690A-A2F7-678C-07109E317430}"/>
              </a:ext>
            </a:extLst>
          </p:cNvPr>
          <p:cNvSpPr/>
          <p:nvPr/>
        </p:nvSpPr>
        <p:spPr>
          <a:xfrm>
            <a:off x="571500" y="3009404"/>
            <a:ext cx="11048695" cy="866851"/>
          </a:xfrm>
          <a:prstGeom prst="roundRect">
            <a:avLst>
              <a:gd name="adj" fmla="val 695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88635E7-A75B-9728-8037-E21A257AEACD}"/>
              </a:ext>
            </a:extLst>
          </p:cNvPr>
          <p:cNvSpPr/>
          <p:nvPr/>
        </p:nvSpPr>
        <p:spPr>
          <a:xfrm>
            <a:off x="571500" y="4013415"/>
            <a:ext cx="11048695" cy="866851"/>
          </a:xfrm>
          <a:prstGeom prst="roundRect">
            <a:avLst>
              <a:gd name="adj" fmla="val 695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C42295A-91D7-FAD9-F2C4-0C5307BFFC2E}"/>
              </a:ext>
            </a:extLst>
          </p:cNvPr>
          <p:cNvSpPr/>
          <p:nvPr/>
        </p:nvSpPr>
        <p:spPr>
          <a:xfrm>
            <a:off x="571500" y="5017426"/>
            <a:ext cx="11048695" cy="866851"/>
          </a:xfrm>
          <a:prstGeom prst="roundRect">
            <a:avLst>
              <a:gd name="adj" fmla="val 695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5D1F95E-C3F1-F0B4-BDB4-5CCC964676B4}"/>
              </a:ext>
            </a:extLst>
          </p:cNvPr>
          <p:cNvSpPr/>
          <p:nvPr/>
        </p:nvSpPr>
        <p:spPr>
          <a:xfrm>
            <a:off x="724205" y="3180397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0982242-5F4E-9B14-33E2-806EC30D14B3}"/>
              </a:ext>
            </a:extLst>
          </p:cNvPr>
          <p:cNvSpPr/>
          <p:nvPr/>
        </p:nvSpPr>
        <p:spPr>
          <a:xfrm>
            <a:off x="724205" y="4184408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4398EDD-1FB2-234A-860E-D3983771D7C9}"/>
              </a:ext>
            </a:extLst>
          </p:cNvPr>
          <p:cNvSpPr/>
          <p:nvPr/>
        </p:nvSpPr>
        <p:spPr>
          <a:xfrm>
            <a:off x="724205" y="5188419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192154E-BD0E-85B4-8F80-ADBF9E553658}"/>
              </a:ext>
            </a:extLst>
          </p:cNvPr>
          <p:cNvSpPr txBox="1"/>
          <p:nvPr/>
        </p:nvSpPr>
        <p:spPr>
          <a:xfrm>
            <a:off x="1143000" y="4166120"/>
            <a:ext cx="22485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 2: Alternate Days</a:t>
            </a:r>
            <a:endParaRPr lang="en-US" sz="15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991C040-0A8E-D2AC-AE3E-6E4C5EEA5E5B}"/>
              </a:ext>
            </a:extLst>
          </p:cNvPr>
          <p:cNvSpPr txBox="1"/>
          <p:nvPr/>
        </p:nvSpPr>
        <p:spPr>
          <a:xfrm>
            <a:off x="1143000" y="5170131"/>
            <a:ext cx="2419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Weeks 3-4: Twice Weekly</a:t>
            </a:r>
            <a:endParaRPr lang="en-US" sz="15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40E2AAC9-3DB0-6E42-41F4-3DF2E4F09C87}"/>
              </a:ext>
            </a:extLst>
          </p:cNvPr>
          <p:cNvSpPr txBox="1"/>
          <p:nvPr/>
        </p:nvSpPr>
        <p:spPr>
          <a:xfrm>
            <a:off x="1143000" y="3162109"/>
            <a:ext cx="23052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 1: Daily Check-ins</a:t>
            </a:r>
            <a:endParaRPr lang="en-US" sz="1500" dirty="0"/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8B33929E-BD4C-C220-AF6F-F0780E256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3238004"/>
            <a:ext cx="133502" cy="152705"/>
          </a:xfrm>
          <a:prstGeom prst="rect">
            <a:avLst/>
          </a:prstGeom>
        </p:spPr>
      </p:pic>
      <p:sp>
        <p:nvSpPr>
          <p:cNvPr id="36" name="Text 29">
            <a:extLst>
              <a:ext uri="{FF2B5EF4-FFF2-40B4-BE49-F238E27FC236}">
                <a16:creationId xmlns:a16="http://schemas.microsoft.com/office/drawing/2014/main" id="{0808FDFA-F515-3794-0243-864C752E2BD7}"/>
              </a:ext>
            </a:extLst>
          </p:cNvPr>
          <p:cNvSpPr txBox="1"/>
          <p:nvPr/>
        </p:nvSpPr>
        <p:spPr>
          <a:xfrm>
            <a:off x="1143000" y="349495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 Q&amp;A sessions to address immediate challenges and reinforce workflow</a:t>
            </a:r>
            <a:endParaRPr lang="en-US" sz="1200" dirty="0"/>
          </a:p>
        </p:txBody>
      </p:sp>
      <p:pic>
        <p:nvPicPr>
          <p:cNvPr id="37" name="Image 5" descr="preencoded.png">
            <a:extLst>
              <a:ext uri="{FF2B5EF4-FFF2-40B4-BE49-F238E27FC236}">
                <a16:creationId xmlns:a16="http://schemas.microsoft.com/office/drawing/2014/main" id="{F76D6E49-7E1E-7B88-A9D6-AA0D6473E4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4242015"/>
            <a:ext cx="133502" cy="152705"/>
          </a:xfrm>
          <a:prstGeom prst="rect">
            <a:avLst/>
          </a:prstGeom>
        </p:spPr>
      </p:pic>
      <p:sp>
        <p:nvSpPr>
          <p:cNvPr id="38" name="Text 30">
            <a:extLst>
              <a:ext uri="{FF2B5EF4-FFF2-40B4-BE49-F238E27FC236}">
                <a16:creationId xmlns:a16="http://schemas.microsoft.com/office/drawing/2014/main" id="{500D7CC5-BC65-92B0-750C-09074FA1811E}"/>
              </a:ext>
            </a:extLst>
          </p:cNvPr>
          <p:cNvSpPr txBox="1"/>
          <p:nvPr/>
        </p:nvSpPr>
        <p:spPr>
          <a:xfrm>
            <a:off x="1143000" y="4498961"/>
            <a:ext cx="4944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Support every other day to encourage independent problem-solving</a:t>
            </a:r>
            <a:endParaRPr lang="en-US" sz="1200" dirty="0"/>
          </a:p>
        </p:txBody>
      </p:sp>
      <p:pic>
        <p:nvPicPr>
          <p:cNvPr id="39" name="Image 6" descr="preencoded.png">
            <a:extLst>
              <a:ext uri="{FF2B5EF4-FFF2-40B4-BE49-F238E27FC236}">
                <a16:creationId xmlns:a16="http://schemas.microsoft.com/office/drawing/2014/main" id="{BCC066A6-AFD5-F781-555A-6236DF77AC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5246026"/>
            <a:ext cx="133502" cy="152705"/>
          </a:xfrm>
          <a:prstGeom prst="rect">
            <a:avLst/>
          </a:prstGeom>
        </p:spPr>
      </p:pic>
      <p:sp>
        <p:nvSpPr>
          <p:cNvPr id="40" name="Text 31">
            <a:extLst>
              <a:ext uri="{FF2B5EF4-FFF2-40B4-BE49-F238E27FC236}">
                <a16:creationId xmlns:a16="http://schemas.microsoft.com/office/drawing/2014/main" id="{9F4806F2-BE76-9B9F-8B35-63F3E9DD73F6}"/>
              </a:ext>
            </a:extLst>
          </p:cNvPr>
          <p:cNvSpPr txBox="1"/>
          <p:nvPr/>
        </p:nvSpPr>
        <p:spPr>
          <a:xfrm>
            <a:off x="1143000" y="5502973"/>
            <a:ext cx="6648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Scheduled support sessions twice per week for remaining questions and advanced scenarios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01043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86968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Standard Maintenance Workflow —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429207"/>
            <a:ext cx="11048695" cy="1772107"/>
          </a:xfrm>
          <a:prstGeom prst="roundRect">
            <a:avLst>
              <a:gd name="adj" fmla="val 2219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 txBox="1"/>
          <p:nvPr/>
        </p:nvSpPr>
        <p:spPr>
          <a:xfrm>
            <a:off x="857707" y="1619402"/>
            <a:ext cx="9144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7707" y="1981505"/>
            <a:ext cx="73965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Six Steps (0–5): Gate-driven workflow ensuring each phase meets criteria before proceeding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2752344"/>
            <a:ext cx="6920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Safer changes, predictable cycle time, captured learning for continuous improvement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7707" y="2391156"/>
            <a:ext cx="1143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Outcomes: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786738" y="4076395"/>
            <a:ext cx="1218895" cy="19202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3591597" y="4076395"/>
            <a:ext cx="1218895" cy="19202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5481348" y="4076395"/>
            <a:ext cx="1218895" cy="19202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60847" y="4076395"/>
            <a:ext cx="1218895" cy="19202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9241264" y="4076395"/>
            <a:ext cx="1218895" cy="19202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Shape 12"/>
          <p:cNvSpPr/>
          <p:nvPr/>
        </p:nvSpPr>
        <p:spPr>
          <a:xfrm>
            <a:off x="1090879" y="3771900"/>
            <a:ext cx="619049" cy="619049"/>
          </a:xfrm>
          <a:prstGeom prst="ellipse">
            <a:avLst/>
          </a:prstGeom>
          <a:solidFill>
            <a:srgbClr val="66B2FF">
              <a:alpha val="15000"/>
            </a:srgbClr>
          </a:solidFill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3"/>
          <p:cNvSpPr/>
          <p:nvPr/>
        </p:nvSpPr>
        <p:spPr>
          <a:xfrm>
            <a:off x="4847234" y="3771900"/>
            <a:ext cx="619049" cy="619049"/>
          </a:xfrm>
          <a:prstGeom prst="ellipse">
            <a:avLst/>
          </a:prstGeom>
          <a:solidFill>
            <a:srgbClr val="66B2FF">
              <a:alpha val="15000"/>
            </a:srgbClr>
          </a:solidFill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4"/>
          <p:cNvSpPr/>
          <p:nvPr/>
        </p:nvSpPr>
        <p:spPr>
          <a:xfrm>
            <a:off x="8603590" y="3771900"/>
            <a:ext cx="619049" cy="619049"/>
          </a:xfrm>
          <a:prstGeom prst="ellipse">
            <a:avLst/>
          </a:prstGeom>
          <a:solidFill>
            <a:srgbClr val="66B2FF">
              <a:alpha val="15000"/>
            </a:srgbClr>
          </a:solidFill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5"/>
          <p:cNvSpPr/>
          <p:nvPr/>
        </p:nvSpPr>
        <p:spPr>
          <a:xfrm>
            <a:off x="793644" y="3676802"/>
            <a:ext cx="286207" cy="286207"/>
          </a:xfrm>
          <a:prstGeom prst="ellipse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6"/>
          <p:cNvSpPr txBox="1"/>
          <p:nvPr/>
        </p:nvSpPr>
        <p:spPr>
          <a:xfrm>
            <a:off x="854162" y="37051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9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2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6502" y="3957523"/>
            <a:ext cx="247802" cy="24780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969057" y="3771900"/>
            <a:ext cx="619049" cy="619049"/>
          </a:xfrm>
          <a:prstGeom prst="ellipse">
            <a:avLst/>
          </a:prstGeom>
          <a:solidFill>
            <a:srgbClr val="66B2FF">
              <a:alpha val="15000"/>
            </a:srgbClr>
          </a:solidFill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18"/>
          <p:cNvSpPr/>
          <p:nvPr/>
        </p:nvSpPr>
        <p:spPr>
          <a:xfrm>
            <a:off x="6725412" y="3771900"/>
            <a:ext cx="619049" cy="619049"/>
          </a:xfrm>
          <a:prstGeom prst="ellipse">
            <a:avLst/>
          </a:prstGeom>
          <a:solidFill>
            <a:srgbClr val="66B2FF">
              <a:alpha val="15000"/>
            </a:srgbClr>
          </a:solidFill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19"/>
          <p:cNvSpPr/>
          <p:nvPr/>
        </p:nvSpPr>
        <p:spPr>
          <a:xfrm>
            <a:off x="10481767" y="3771900"/>
            <a:ext cx="619049" cy="619049"/>
          </a:xfrm>
          <a:prstGeom prst="ellipse">
            <a:avLst/>
          </a:prstGeom>
          <a:solidFill>
            <a:srgbClr val="66B2FF">
              <a:alpha val="15000"/>
            </a:srgbClr>
          </a:solidFill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0"/>
          <p:cNvSpPr/>
          <p:nvPr/>
        </p:nvSpPr>
        <p:spPr>
          <a:xfrm>
            <a:off x="2671822" y="3676802"/>
            <a:ext cx="286207" cy="286207"/>
          </a:xfrm>
          <a:prstGeom prst="ellipse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Shape 21"/>
          <p:cNvSpPr/>
          <p:nvPr/>
        </p:nvSpPr>
        <p:spPr>
          <a:xfrm>
            <a:off x="4550000" y="3676802"/>
            <a:ext cx="286207" cy="286207"/>
          </a:xfrm>
          <a:prstGeom prst="ellipse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Shape 22"/>
          <p:cNvSpPr/>
          <p:nvPr/>
        </p:nvSpPr>
        <p:spPr>
          <a:xfrm>
            <a:off x="6428177" y="3676802"/>
            <a:ext cx="286207" cy="286207"/>
          </a:xfrm>
          <a:prstGeom prst="ellipse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7" name="Shape 23"/>
          <p:cNvSpPr/>
          <p:nvPr/>
        </p:nvSpPr>
        <p:spPr>
          <a:xfrm>
            <a:off x="10184532" y="3676802"/>
            <a:ext cx="286207" cy="286207"/>
          </a:xfrm>
          <a:prstGeom prst="ellipse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8" name="Text 24"/>
          <p:cNvSpPr txBox="1"/>
          <p:nvPr/>
        </p:nvSpPr>
        <p:spPr>
          <a:xfrm>
            <a:off x="2732340" y="37051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9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4610517" y="37051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9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488695" y="37051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9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8366873" y="37051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9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10245050" y="370514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9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935431" y="4543654"/>
            <a:ext cx="105521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4521708" y="4543654"/>
            <a:ext cx="139811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666598" y="4862779"/>
            <a:ext cx="158374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backup, env setup, change request</a:t>
            </a:r>
            <a:endParaRPr lang="en-US" sz="11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4"/>
          <a:srcRect l="-775" r="-775"/>
          <a:stretch/>
        </p:blipFill>
        <p:spPr>
          <a:xfrm>
            <a:off x="3120847" y="3957523"/>
            <a:ext cx="314554" cy="24780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2489911" y="4543654"/>
            <a:ext cx="170261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Complexity Analysis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8630107" y="4543654"/>
            <a:ext cx="6931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2489911" y="4862779"/>
            <a:ext cx="168889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Assess LOW/MEDIUM/HIGH tier with AI</a:t>
            </a:r>
            <a:endParaRPr lang="en-US" sz="11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5"/>
          <a:srcRect l="-775" r="-775"/>
          <a:stretch/>
        </p:blipFill>
        <p:spPr>
          <a:xfrm>
            <a:off x="4999025" y="3957523"/>
            <a:ext cx="314554" cy="247802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8306355" y="3676802"/>
            <a:ext cx="286207" cy="286207"/>
          </a:xfrm>
          <a:prstGeom prst="ellipse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2" name="Text 36"/>
          <p:cNvSpPr txBox="1"/>
          <p:nvPr/>
        </p:nvSpPr>
        <p:spPr>
          <a:xfrm>
            <a:off x="4486961" y="4862779"/>
            <a:ext cx="145023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Step-by-step guided code changes</a:t>
            </a:r>
            <a:endParaRPr lang="en-US" sz="11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11035" y="3957523"/>
            <a:ext cx="247802" cy="247802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6751930" y="4543654"/>
            <a:ext cx="6931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Testing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10181844" y="4543654"/>
            <a:ext cx="135056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6371539" y="4862779"/>
            <a:ext cx="144109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Minimal, functional, regression tests</a:t>
            </a:r>
            <a:endParaRPr lang="en-US" sz="110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7"/>
          <a:srcRect t="-476" b="-476"/>
          <a:stretch/>
        </p:blipFill>
        <p:spPr>
          <a:xfrm>
            <a:off x="8774582" y="3957523"/>
            <a:ext cx="276149" cy="247802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226857" y="4862779"/>
            <a:ext cx="148864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 review for MEDIUM complexity</a:t>
            </a:r>
            <a:endParaRPr lang="en-US" sz="11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8"/>
          <a:srcRect l="-606" r="-606"/>
          <a:stretch/>
        </p:blipFill>
        <p:spPr>
          <a:xfrm>
            <a:off x="10682021" y="3957523"/>
            <a:ext cx="219456" cy="247802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0110521" y="4862779"/>
            <a:ext cx="146944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Record case in L2 for future reference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04717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314824"/>
            <a:ext cx="38770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0: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885746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24205" y="1056739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1114346"/>
            <a:ext cx="133502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2289350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Shape 5"/>
          <p:cNvSpPr/>
          <p:nvPr/>
        </p:nvSpPr>
        <p:spPr>
          <a:xfrm>
            <a:off x="571500" y="3693869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6"/>
          <p:cNvSpPr/>
          <p:nvPr/>
        </p:nvSpPr>
        <p:spPr>
          <a:xfrm>
            <a:off x="571500" y="5097473"/>
            <a:ext cx="11048695" cy="1647749"/>
          </a:xfrm>
          <a:prstGeom prst="roundRect">
            <a:avLst>
              <a:gd name="adj" fmla="val 192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724205" y="2461258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8"/>
          <p:cNvSpPr/>
          <p:nvPr/>
        </p:nvSpPr>
        <p:spPr>
          <a:xfrm>
            <a:off x="724205" y="3864862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724205" y="5269380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 txBox="1"/>
          <p:nvPr/>
        </p:nvSpPr>
        <p:spPr>
          <a:xfrm>
            <a:off x="1143000" y="1038451"/>
            <a:ext cx="25246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Git backup commit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442055"/>
            <a:ext cx="19248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Verify environment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5250178"/>
            <a:ext cx="1286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 criteria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1371293"/>
            <a:ext cx="6048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 current state to Git and record the commit hash for potential rollback needs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775811"/>
            <a:ext cx="5972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Ensure virtual environment is activated and all required dependencies are installed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6010044"/>
            <a:ext cx="2410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Change scope clearly defined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143000" y="1670302"/>
            <a:ext cx="905256" cy="276149"/>
          </a:xfrm>
          <a:prstGeom prst="roundRect">
            <a:avLst>
              <a:gd name="adj" fmla="val 45672"/>
            </a:avLst>
          </a:prstGeom>
          <a:solidFill>
            <a:srgbClr val="66B2FF">
              <a:alpha val="20000"/>
            </a:srgbClr>
          </a:solidFill>
          <a:ln w="12700">
            <a:solidFill>
              <a:srgbClr val="66B2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7"/>
          <p:cNvSpPr/>
          <p:nvPr/>
        </p:nvSpPr>
        <p:spPr>
          <a:xfrm>
            <a:off x="1143000" y="3074820"/>
            <a:ext cx="905256" cy="276149"/>
          </a:xfrm>
          <a:prstGeom prst="roundRect">
            <a:avLst>
              <a:gd name="adj" fmla="val 45672"/>
            </a:avLst>
          </a:prstGeom>
          <a:solidFill>
            <a:srgbClr val="66B2FF">
              <a:alpha val="20000"/>
            </a:srgbClr>
          </a:solidFill>
          <a:ln w="12700">
            <a:solidFill>
              <a:srgbClr val="66B2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8"/>
          <p:cNvSpPr/>
          <p:nvPr/>
        </p:nvSpPr>
        <p:spPr>
          <a:xfrm>
            <a:off x="1143000" y="4478424"/>
            <a:ext cx="905256" cy="276149"/>
          </a:xfrm>
          <a:prstGeom prst="roundRect">
            <a:avLst>
              <a:gd name="adj" fmla="val 45672"/>
            </a:avLst>
          </a:prstGeom>
          <a:solidFill>
            <a:srgbClr val="66B2FF">
              <a:alpha val="20000"/>
            </a:srgbClr>
          </a:solidFill>
          <a:ln w="12700">
            <a:solidFill>
              <a:srgbClr val="66B2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19"/>
          <p:cNvSpPr txBox="1"/>
          <p:nvPr/>
        </p:nvSpPr>
        <p:spPr>
          <a:xfrm>
            <a:off x="1228954" y="1708706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Item</a:t>
            </a:r>
            <a:endParaRPr lang="en-US" sz="10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2517950"/>
            <a:ext cx="133502" cy="15270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228954" y="311231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Item</a:t>
            </a:r>
            <a:endParaRPr lang="en-US" sz="10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3922469"/>
            <a:ext cx="133502" cy="15270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43000" y="3845659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Write change request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1143000" y="4179415"/>
            <a:ext cx="6001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a clear, detailed change request document in the change-requests/ directory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143000" y="5583934"/>
            <a:ext cx="1895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Git backup completed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1143000" y="5796989"/>
            <a:ext cx="2220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Virtual environment active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1228954" y="4516829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Item</a:t>
            </a:r>
            <a:endParaRPr lang="en-US" sz="10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790956" y="5326073"/>
            <a:ext cx="133502" cy="15270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143000" y="6309053"/>
            <a:ext cx="886054" cy="276149"/>
          </a:xfrm>
          <a:prstGeom prst="roundRect">
            <a:avLst>
              <a:gd name="adj" fmla="val 45672"/>
            </a:avLst>
          </a:prstGeom>
          <a:solidFill>
            <a:srgbClr val="FFC107">
              <a:alpha val="20000"/>
            </a:srgbClr>
          </a:solidFill>
          <a:ln w="12700">
            <a:solidFill>
              <a:srgbClr val="FFC10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27"/>
          <p:cNvSpPr txBox="1"/>
          <p:nvPr/>
        </p:nvSpPr>
        <p:spPr>
          <a:xfrm>
            <a:off x="1228954" y="6347458"/>
            <a:ext cx="814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C1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 Check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5429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1: Complexity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353583"/>
            <a:ext cx="11048695" cy="1076249"/>
          </a:xfrm>
          <a:prstGeom prst="roundRect">
            <a:avLst>
              <a:gd name="adj" fmla="val 451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71500" y="3883728"/>
            <a:ext cx="11048695" cy="1076249"/>
          </a:xfrm>
          <a:prstGeom prst="roundRect">
            <a:avLst>
              <a:gd name="adj" fmla="val 451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24205" y="1524576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1582183"/>
            <a:ext cx="133502" cy="1527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" y="2618199"/>
            <a:ext cx="11048695" cy="1076249"/>
          </a:xfrm>
          <a:prstGeom prst="roundRect">
            <a:avLst>
              <a:gd name="adj" fmla="val 451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6"/>
          <p:cNvSpPr/>
          <p:nvPr/>
        </p:nvSpPr>
        <p:spPr>
          <a:xfrm>
            <a:off x="724205" y="2790106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 txBox="1"/>
          <p:nvPr/>
        </p:nvSpPr>
        <p:spPr>
          <a:xfrm>
            <a:off x="1143000" y="1506288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AI with Context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839130"/>
            <a:ext cx="102394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 L2-PROMPTS.md template to request complexity evaluation. Include essential context files: @L1-CLAUDE.md @L1-COMPLEXITY-MATRIX.md @L1-CONSTRAINTS.md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2846799"/>
            <a:ext cx="133502" cy="1527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24205" y="4054721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0"/>
          <p:cNvSpPr txBox="1"/>
          <p:nvPr/>
        </p:nvSpPr>
        <p:spPr>
          <a:xfrm>
            <a:off x="1143000" y="2770903"/>
            <a:ext cx="1619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Assess AI Rating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3104659"/>
            <a:ext cx="101827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Critically evaluate AI's complexity rating (LOW/MEDIUM/HIGH) and its supporting rationale. Cross-check against constraints document and past examples.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4112328"/>
            <a:ext cx="133502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035519"/>
            <a:ext cx="25530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Decide Final Classification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4369275"/>
            <a:ext cx="99441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 final complexity determination based on AI assessment, constraints review, and similar past cases. Write analysis report documenting rationale and plan.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71500" y="5434551"/>
            <a:ext cx="11048695" cy="1086307"/>
          </a:xfrm>
          <a:prstGeom prst="rect">
            <a:avLst/>
          </a:prstGeom>
          <a:solidFill>
            <a:srgbClr val="66B2FF">
              <a:alpha val="1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Shape 15"/>
          <p:cNvSpPr/>
          <p:nvPr/>
        </p:nvSpPr>
        <p:spPr>
          <a:xfrm>
            <a:off x="571500" y="5434551"/>
            <a:ext cx="38405" cy="1086307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 t="-841" b="-841"/>
          <a:stretch/>
        </p:blipFill>
        <p:spPr>
          <a:xfrm>
            <a:off x="800100" y="5629318"/>
            <a:ext cx="190195" cy="17190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0295" y="5586341"/>
            <a:ext cx="11768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 Criteria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00100" y="5929241"/>
            <a:ext cx="8106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🟢 LOW / 🟡 MEDIUM: Proceed to Step 2 with completed analysis report. For MEDIUM, schedule developer review.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00100" y="6143211"/>
            <a:ext cx="6706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HIGH: Stop work immediately and submit formal developer request with analysis findings.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46863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2: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619402"/>
            <a:ext cx="11048695" cy="866851"/>
          </a:xfrm>
          <a:prstGeom prst="roundRect">
            <a:avLst>
              <a:gd name="adj" fmla="val 695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71500" y="3722522"/>
            <a:ext cx="11048695" cy="866851"/>
          </a:xfrm>
          <a:prstGeom prst="roundRect">
            <a:avLst>
              <a:gd name="adj" fmla="val 695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24205" y="1790395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1848002"/>
            <a:ext cx="133502" cy="1527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" y="2670962"/>
            <a:ext cx="11048695" cy="866851"/>
          </a:xfrm>
          <a:prstGeom prst="roundRect">
            <a:avLst>
              <a:gd name="adj" fmla="val 695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6"/>
          <p:cNvSpPr/>
          <p:nvPr/>
        </p:nvSpPr>
        <p:spPr>
          <a:xfrm>
            <a:off x="724205" y="2841955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 txBox="1"/>
          <p:nvPr/>
        </p:nvSpPr>
        <p:spPr>
          <a:xfrm>
            <a:off x="1143000" y="1772107"/>
            <a:ext cx="23152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 AI for stepwise plan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104949"/>
            <a:ext cx="7372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Request a detailed implementation plan with small, verifiable increments rather than one large change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2899562"/>
            <a:ext cx="133502" cy="1527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24205" y="3893515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0"/>
          <p:cNvSpPr txBox="1"/>
          <p:nvPr/>
        </p:nvSpPr>
        <p:spPr>
          <a:xfrm>
            <a:off x="1143000" y="2823667"/>
            <a:ext cx="28392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Apply code one step at a time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3156509"/>
            <a:ext cx="765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Implement each small step separately, running quick verification checks before proceeding to the next step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3951122"/>
            <a:ext cx="133502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3875227"/>
            <a:ext cx="28675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 all changes and decisions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4208069"/>
            <a:ext cx="8325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Document the entire implementation process including AI conversations, code changes, and any issues encountered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71500" y="5002682"/>
            <a:ext cx="11048695" cy="866851"/>
          </a:xfrm>
          <a:prstGeom prst="rect">
            <a:avLst/>
          </a:prstGeom>
          <a:solidFill>
            <a:srgbClr val="66B2FF">
              <a:alpha val="1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Shape 15"/>
          <p:cNvSpPr/>
          <p:nvPr/>
        </p:nvSpPr>
        <p:spPr>
          <a:xfrm>
            <a:off x="571500" y="5002682"/>
            <a:ext cx="38405" cy="866851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 t="-841" b="-841"/>
          <a:stretch/>
        </p:blipFill>
        <p:spPr>
          <a:xfrm>
            <a:off x="761695" y="5198364"/>
            <a:ext cx="190195" cy="17190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52805" y="5155387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 Criteria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61695" y="5488229"/>
            <a:ext cx="9563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implementation steps completed, basic code checks pass (syntax, imports), and git diff confirms only intended changes were made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92747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30010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3: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279160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24205" y="1450153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1507760"/>
            <a:ext cx="133502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2682764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Shape 5"/>
          <p:cNvSpPr/>
          <p:nvPr/>
        </p:nvSpPr>
        <p:spPr>
          <a:xfrm>
            <a:off x="571500" y="4087283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6"/>
          <p:cNvSpPr/>
          <p:nvPr/>
        </p:nvSpPr>
        <p:spPr>
          <a:xfrm>
            <a:off x="571500" y="5490887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724205" y="2854672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8"/>
          <p:cNvSpPr/>
          <p:nvPr/>
        </p:nvSpPr>
        <p:spPr>
          <a:xfrm>
            <a:off x="724205" y="4258276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724205" y="5662794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 txBox="1"/>
          <p:nvPr/>
        </p:nvSpPr>
        <p:spPr>
          <a:xfrm>
            <a:off x="1143000" y="1431865"/>
            <a:ext cx="1600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Minimal Testing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835469"/>
            <a:ext cx="18388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Functional Testing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5643592"/>
            <a:ext cx="1305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 Criteria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1764707"/>
            <a:ext cx="6249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Verify that the program launches without errors and basic functionality works correctly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3169225"/>
            <a:ext cx="6010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the modified feature thoroughly, including all normal use cases and edge cases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43000" y="2063716"/>
            <a:ext cx="752551" cy="276149"/>
          </a:xfrm>
          <a:prstGeom prst="roundRect">
            <a:avLst>
              <a:gd name="adj" fmla="val 45672"/>
            </a:avLst>
          </a:prstGeom>
          <a:solidFill>
            <a:srgbClr val="2ED573">
              <a:alpha val="20000"/>
            </a:srgbClr>
          </a:solidFill>
          <a:ln w="12700">
            <a:solidFill>
              <a:srgbClr val="2ED5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6"/>
          <p:cNvSpPr/>
          <p:nvPr/>
        </p:nvSpPr>
        <p:spPr>
          <a:xfrm>
            <a:off x="1143000" y="3468234"/>
            <a:ext cx="752551" cy="276149"/>
          </a:xfrm>
          <a:prstGeom prst="roundRect">
            <a:avLst>
              <a:gd name="adj" fmla="val 45672"/>
            </a:avLst>
          </a:prstGeom>
          <a:solidFill>
            <a:srgbClr val="2ED573">
              <a:alpha val="20000"/>
            </a:srgbClr>
          </a:solidFill>
          <a:ln w="12700">
            <a:solidFill>
              <a:srgbClr val="2ED5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7"/>
          <p:cNvSpPr/>
          <p:nvPr/>
        </p:nvSpPr>
        <p:spPr>
          <a:xfrm>
            <a:off x="1143000" y="4871838"/>
            <a:ext cx="752551" cy="276149"/>
          </a:xfrm>
          <a:prstGeom prst="roundRect">
            <a:avLst>
              <a:gd name="adj" fmla="val 45672"/>
            </a:avLst>
          </a:prstGeom>
          <a:solidFill>
            <a:srgbClr val="2ED573">
              <a:alpha val="20000"/>
            </a:srgbClr>
          </a:solidFill>
          <a:ln w="12700">
            <a:solidFill>
              <a:srgbClr val="2ED57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8"/>
          <p:cNvSpPr txBox="1"/>
          <p:nvPr/>
        </p:nvSpPr>
        <p:spPr>
          <a:xfrm>
            <a:off x="1228954" y="2102120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D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</a:t>
            </a:r>
            <a:endParaRPr lang="en-US" sz="10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2911364"/>
            <a:ext cx="133502" cy="15270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28954" y="3505724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D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4315883"/>
            <a:ext cx="133502" cy="152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143000" y="4239073"/>
            <a:ext cx="18672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Regression Testing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1143000" y="4572829"/>
            <a:ext cx="5800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Ensure unrelated features still work properly and no side effects were introduced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143000" y="5977348"/>
            <a:ext cx="7820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required tests specified in L1-TESTING.md must pass and testing report must be written before proceeding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228954" y="4910243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D5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</a:t>
            </a:r>
            <a:endParaRPr lang="en-US" sz="10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790956" y="5719487"/>
            <a:ext cx="133502" cy="15270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143000" y="6276356"/>
            <a:ext cx="886054" cy="276149"/>
          </a:xfrm>
          <a:prstGeom prst="roundRect">
            <a:avLst>
              <a:gd name="adj" fmla="val 45672"/>
            </a:avLst>
          </a:prstGeom>
          <a:solidFill>
            <a:srgbClr val="FF4757">
              <a:alpha val="20000"/>
            </a:srgbClr>
          </a:solidFill>
          <a:ln w="12700">
            <a:solidFill>
              <a:srgbClr val="FF47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5"/>
          <p:cNvSpPr txBox="1"/>
          <p:nvPr/>
        </p:nvSpPr>
        <p:spPr>
          <a:xfrm>
            <a:off x="1228954" y="6313847"/>
            <a:ext cx="814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 Check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58585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4: Review (MEDIUM only)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279160"/>
            <a:ext cx="11048695" cy="866851"/>
          </a:xfrm>
          <a:prstGeom prst="roundRect">
            <a:avLst>
              <a:gd name="adj" fmla="val 695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71500" y="4005901"/>
            <a:ext cx="11048695" cy="1133856"/>
          </a:xfrm>
          <a:prstGeom prst="roundRect">
            <a:avLst>
              <a:gd name="adj" fmla="val 406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24205" y="1450153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1507760"/>
            <a:ext cx="133502" cy="1527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" y="2330720"/>
            <a:ext cx="11048695" cy="1485900"/>
          </a:xfrm>
          <a:prstGeom prst="roundRect">
            <a:avLst>
              <a:gd name="adj" fmla="val 236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6"/>
          <p:cNvSpPr/>
          <p:nvPr/>
        </p:nvSpPr>
        <p:spPr>
          <a:xfrm>
            <a:off x="724205" y="2501713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 txBox="1"/>
          <p:nvPr/>
        </p:nvSpPr>
        <p:spPr>
          <a:xfrm>
            <a:off x="1143000" y="1431865"/>
            <a:ext cx="3553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Submit Request with Documentation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764707"/>
            <a:ext cx="9411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Provide the reviewer with all required documents: Change Request (CR), Complexity Analysis, Implementation Log, and Test Report.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2559320"/>
            <a:ext cx="133502" cy="1527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24205" y="4177808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0"/>
          <p:cNvSpPr txBox="1"/>
          <p:nvPr/>
        </p:nvSpPr>
        <p:spPr>
          <a:xfrm>
            <a:off x="1143000" y="2483425"/>
            <a:ext cx="1791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 Outcomes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4158606"/>
            <a:ext cx="2477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Implementation Decision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816267"/>
            <a:ext cx="3963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 will review and provide one of three results: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143000" y="3115276"/>
            <a:ext cx="914400" cy="276149"/>
          </a:xfrm>
          <a:prstGeom prst="roundRect">
            <a:avLst>
              <a:gd name="adj" fmla="val 45672"/>
            </a:avLst>
          </a:prstGeom>
          <a:solidFill>
            <a:srgbClr val="48BB78">
              <a:alpha val="20000"/>
            </a:srgbClr>
          </a:solidFill>
          <a:ln w="12700">
            <a:solidFill>
              <a:srgbClr val="48BB7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28954" y="3189342"/>
            <a:ext cx="133502" cy="1335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43000" y="4492362"/>
            <a:ext cx="8296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Conditional Approval, decide whether to incorporate the suggested improvements (optional) before proceeding.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399946" y="3153680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8B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Approval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131466" y="3115276"/>
            <a:ext cx="1695298" cy="276149"/>
          </a:xfrm>
          <a:prstGeom prst="roundRect">
            <a:avLst>
              <a:gd name="adj" fmla="val 45672"/>
            </a:avLst>
          </a:prstGeom>
          <a:solidFill>
            <a:srgbClr val="ED8936">
              <a:alpha val="20000"/>
            </a:srgbClr>
          </a:solidFill>
          <a:ln w="12700">
            <a:solidFill>
              <a:srgbClr val="ED893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17420" y="3189342"/>
            <a:ext cx="133502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389327" y="3153680"/>
            <a:ext cx="1452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89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Conditional Approval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897173" y="3115276"/>
            <a:ext cx="942746" cy="276149"/>
          </a:xfrm>
          <a:prstGeom prst="roundRect">
            <a:avLst>
              <a:gd name="adj" fmla="val 45672"/>
            </a:avLst>
          </a:prstGeom>
          <a:solidFill>
            <a:srgbClr val="E53E3E">
              <a:alpha val="20000"/>
            </a:srgbClr>
          </a:solidFill>
          <a:ln w="12700">
            <a:solidFill>
              <a:srgbClr val="E53E3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983126" y="3189342"/>
            <a:ext cx="133502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54119" y="3153680"/>
            <a:ext cx="700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Rejection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143000" y="3449032"/>
            <a:ext cx="6222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 rejected, return to Step 2 and address all required issues before requesting another review.</a:t>
            </a:r>
            <a:endParaRPr lang="en-US" sz="11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4234501"/>
            <a:ext cx="133502" cy="15270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143000" y="4772168"/>
            <a:ext cx="56226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Optional changes are improvements to code quality but not critical to functionality.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71500" y="5615245"/>
            <a:ext cx="11048695" cy="838505"/>
          </a:xfrm>
          <a:prstGeom prst="rect">
            <a:avLst/>
          </a:prstGeom>
          <a:solidFill>
            <a:srgbClr val="66B2FF">
              <a:alpha val="1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1" name="Shape 23"/>
          <p:cNvSpPr/>
          <p:nvPr/>
        </p:nvSpPr>
        <p:spPr>
          <a:xfrm>
            <a:off x="571500" y="5615245"/>
            <a:ext cx="38405" cy="838505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rcRect t="-841" b="-841"/>
          <a:stretch/>
        </p:blipFill>
        <p:spPr>
          <a:xfrm>
            <a:off x="800100" y="5808184"/>
            <a:ext cx="190195" cy="17190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67105" y="5757892"/>
            <a:ext cx="1233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 Criteria: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800100" y="6081589"/>
            <a:ext cx="10372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Approval or Conditional Approval must be received from the developer to proceed to Step 5. Rejection requires returning to Step 2 for corrections.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45628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5: Documentation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215364"/>
            <a:ext cx="11048695" cy="1429207"/>
          </a:xfrm>
          <a:prstGeom prst="roundRect">
            <a:avLst>
              <a:gd name="adj" fmla="val 2559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24205" y="1386357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1443964"/>
            <a:ext cx="133502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2832938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Shape 5"/>
          <p:cNvSpPr/>
          <p:nvPr/>
        </p:nvSpPr>
        <p:spPr>
          <a:xfrm>
            <a:off x="571500" y="4236542"/>
            <a:ext cx="11048695" cy="1218895"/>
          </a:xfrm>
          <a:prstGeom prst="roundRect">
            <a:avLst>
              <a:gd name="adj" fmla="val 351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6"/>
          <p:cNvSpPr/>
          <p:nvPr/>
        </p:nvSpPr>
        <p:spPr>
          <a:xfrm>
            <a:off x="724205" y="3003931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724205" y="4408449"/>
            <a:ext cx="267005" cy="267005"/>
          </a:xfrm>
          <a:prstGeom prst="roundRect">
            <a:avLst>
              <a:gd name="adj" fmla="val 48924"/>
            </a:avLst>
          </a:prstGeom>
          <a:noFill/>
          <a:ln w="25400">
            <a:solidFill>
              <a:srgbClr val="66B2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8"/>
          <p:cNvSpPr txBox="1"/>
          <p:nvPr/>
        </p:nvSpPr>
        <p:spPr>
          <a:xfrm>
            <a:off x="1143000" y="1368069"/>
            <a:ext cx="28675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case to L2-EXAMPLES.md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984728"/>
            <a:ext cx="34006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Update L2-PROMPTS.md (Optional)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1700911"/>
            <a:ext cx="1031626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Record this maintenance experience with problem description, solution approach, AI prompts used, testing methodology, and most importantly, lessons learned for future reference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3318484"/>
            <a:ext cx="8897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 you discovered particularly effective AI prompts during this process, add them to the team's prompt library for future reuse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2213889"/>
            <a:ext cx="752551" cy="276149"/>
          </a:xfrm>
          <a:prstGeom prst="roundRect">
            <a:avLst>
              <a:gd name="adj" fmla="val 45672"/>
            </a:avLst>
          </a:prstGeom>
          <a:solidFill>
            <a:srgbClr val="FFC107">
              <a:alpha val="20000"/>
            </a:srgbClr>
          </a:solidFill>
          <a:ln w="12700">
            <a:solidFill>
              <a:srgbClr val="FFC10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3"/>
          <p:cNvSpPr/>
          <p:nvPr/>
        </p:nvSpPr>
        <p:spPr>
          <a:xfrm>
            <a:off x="1143000" y="3617493"/>
            <a:ext cx="733349" cy="276149"/>
          </a:xfrm>
          <a:prstGeom prst="roundRect">
            <a:avLst>
              <a:gd name="adj" fmla="val 45672"/>
            </a:avLst>
          </a:prstGeom>
          <a:solidFill>
            <a:srgbClr val="FFC107">
              <a:alpha val="20000"/>
            </a:srgbClr>
          </a:solidFill>
          <a:ln w="12700">
            <a:solidFill>
              <a:srgbClr val="FFC10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4"/>
          <p:cNvSpPr/>
          <p:nvPr/>
        </p:nvSpPr>
        <p:spPr>
          <a:xfrm>
            <a:off x="1143000" y="5022012"/>
            <a:ext cx="752551" cy="276149"/>
          </a:xfrm>
          <a:prstGeom prst="roundRect">
            <a:avLst>
              <a:gd name="adj" fmla="val 45672"/>
            </a:avLst>
          </a:prstGeom>
          <a:solidFill>
            <a:srgbClr val="FFC107">
              <a:alpha val="20000"/>
            </a:srgbClr>
          </a:solidFill>
          <a:ln w="12700">
            <a:solidFill>
              <a:srgbClr val="FFC10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 txBox="1"/>
          <p:nvPr/>
        </p:nvSpPr>
        <p:spPr>
          <a:xfrm>
            <a:off x="1228954" y="2251380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C1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</a:t>
            </a:r>
            <a:endParaRPr lang="en-US" sz="1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3061538"/>
            <a:ext cx="133502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28954" y="3655898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C1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Optional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790956" y="4465142"/>
            <a:ext cx="133502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43000" y="4389247"/>
            <a:ext cx="2410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Close maintenance cycle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4722088"/>
            <a:ext cx="7953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Finalize the process by ensuring all documentation is complete and knowledge assets are updated for team use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228954" y="5059502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C10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71500" y="5926353"/>
            <a:ext cx="11048695" cy="533095"/>
          </a:xfrm>
          <a:prstGeom prst="rect">
            <a:avLst/>
          </a:prstGeom>
          <a:solidFill>
            <a:srgbClr val="66B2FF">
              <a:alpha val="1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Shape 21"/>
          <p:cNvSpPr/>
          <p:nvPr/>
        </p:nvSpPr>
        <p:spPr>
          <a:xfrm>
            <a:off x="571500" y="5926353"/>
            <a:ext cx="38405" cy="533095"/>
          </a:xfrm>
          <a:prstGeom prst="rect">
            <a:avLst/>
          </a:prstGeom>
          <a:solidFill>
            <a:srgbClr val="66B2FF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761695" y="6126607"/>
            <a:ext cx="114300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52805" y="6079058"/>
            <a:ext cx="10087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This final documentation step transforms individual experiences into collective team knowledge, making future maintenance faster and safer.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74011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Continuous Improvement —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19402"/>
            <a:ext cx="2667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Monthly Retrospective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571500" y="2200046"/>
            <a:ext cx="133502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9302" y="2104949"/>
            <a:ext cx="42537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Schedule: Monthly on last Friday, 60-minute session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571500" y="2590495"/>
            <a:ext cx="190195" cy="152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5995" y="2495398"/>
            <a:ext cx="45482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Participants: All project developers and non-developers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2980944"/>
            <a:ext cx="152705" cy="1527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38505" y="2885846"/>
            <a:ext cx="7539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Purpose: Review statistics and volume metrics (complexity distribution, success rates, trends)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71500" y="3372307"/>
            <a:ext cx="133502" cy="15270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9302" y="3276295"/>
            <a:ext cx="5949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Sharing: Discuss success stories and challenges, analyze root causes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571500" y="3762756"/>
            <a:ext cx="114300" cy="15270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00100" y="3666744"/>
            <a:ext cx="75108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Document Improvement: Refine complexity matrix, constraints, prompts based on real usage</a:t>
            </a:r>
            <a:endParaRPr lang="en-US" sz="13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1500" y="4153205"/>
            <a:ext cx="152705" cy="15270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838505" y="4058107"/>
            <a:ext cx="4977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Items: Define clear, measurable targets for next month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82588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Monthly Retrospective — Agenda &amp; Metrics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19402"/>
            <a:ext cx="10003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2247595"/>
            <a:ext cx="152705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505" y="2152498"/>
            <a:ext cx="5158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Stats review: volume, tier distribution, success rate, time trends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571500" y="2657246"/>
            <a:ext cx="190195" cy="152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86500" y="1619402"/>
            <a:ext cx="10771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75995" y="2562149"/>
            <a:ext cx="4529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sharing: wins, challenges, root causes, mitigations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571500" y="3066898"/>
            <a:ext cx="114300" cy="152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" y="2971800"/>
            <a:ext cx="49011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 improvements: complexity matrix, constraints, prompts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" y="3476549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38505" y="3381451"/>
            <a:ext cx="40343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Next-month actions: focused, measurable targets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6286500" y="2247595"/>
            <a:ext cx="114300" cy="1527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515100" y="2152498"/>
            <a:ext cx="12435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Updated docs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6515100" y="3457346"/>
            <a:ext cx="19860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Prioritized action items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6782105" y="24094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L1-COMPLEXITY-MATRIX.md refinements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6782105" y="2714854"/>
            <a:ext cx="2334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L1-CONSTRAINTS.md additions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6782105" y="3019349"/>
            <a:ext cx="2324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L2-PROMPTS.md optimizations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6286500" y="3552444"/>
            <a:ext cx="114300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782105" y="3715207"/>
            <a:ext cx="2895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Specific, measurable tasks with owners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6782105" y="4019702"/>
            <a:ext cx="1772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Timeline commitments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6782105" y="4324198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improvement initiatives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100401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— Quick Reference &amp; Emergency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2009851"/>
            <a:ext cx="5381244" cy="19202"/>
          </a:xfrm>
          <a:prstGeom prst="rect">
            <a:avLst/>
          </a:prstGeom>
          <a:solidFill>
            <a:srgbClr val="66B2FF">
              <a:alpha val="3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 txBox="1"/>
          <p:nvPr/>
        </p:nvSpPr>
        <p:spPr>
          <a:xfrm>
            <a:off x="571500" y="1619402"/>
            <a:ext cx="16623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Doc 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1500" y="2171700"/>
            <a:ext cx="5381244" cy="724205"/>
          </a:xfrm>
          <a:prstGeom prst="roundRect">
            <a:avLst>
              <a:gd name="adj" fmla="val 99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989999" r="-989999"/>
          <a:stretch/>
        </p:blipFill>
        <p:spPr>
          <a:xfrm>
            <a:off x="747979" y="2433218"/>
            <a:ext cx="142646" cy="9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" y="3029407"/>
            <a:ext cx="5381244" cy="724205"/>
          </a:xfrm>
          <a:prstGeom prst="roundRect">
            <a:avLst>
              <a:gd name="adj" fmla="val 99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Shape 6"/>
          <p:cNvSpPr/>
          <p:nvPr/>
        </p:nvSpPr>
        <p:spPr>
          <a:xfrm>
            <a:off x="571500" y="4743907"/>
            <a:ext cx="5381244" cy="724205"/>
          </a:xfrm>
          <a:prstGeom prst="roundRect">
            <a:avLst>
              <a:gd name="adj" fmla="val 99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571500" y="5600700"/>
            <a:ext cx="5381244" cy="724205"/>
          </a:xfrm>
          <a:prstGeom prst="roundRect">
            <a:avLst>
              <a:gd name="adj" fmla="val 99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8"/>
          <p:cNvSpPr/>
          <p:nvPr/>
        </p:nvSpPr>
        <p:spPr>
          <a:xfrm>
            <a:off x="6238951" y="3886200"/>
            <a:ext cx="5381244" cy="724205"/>
          </a:xfrm>
          <a:prstGeom prst="roundRect">
            <a:avLst>
              <a:gd name="adj" fmla="val 99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6238951" y="4743907"/>
            <a:ext cx="5381244" cy="724205"/>
          </a:xfrm>
          <a:prstGeom prst="roundRect">
            <a:avLst>
              <a:gd name="adj" fmla="val 99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0"/>
          <p:cNvSpPr txBox="1"/>
          <p:nvPr/>
        </p:nvSpPr>
        <p:spPr>
          <a:xfrm>
            <a:off x="1104595" y="2286000"/>
            <a:ext cx="21195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L0-WORKFLOW-MASTER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04595" y="4000500"/>
            <a:ext cx="15672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L1-CONSTRAINTS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04595" y="4858207"/>
            <a:ext cx="1100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L1-TESTING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04595" y="2581351"/>
            <a:ext cx="30888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When to start work or need process guidance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rcRect l="-989999" r="-989999"/>
          <a:stretch/>
        </p:blipFill>
        <p:spPr>
          <a:xfrm>
            <a:off x="747979" y="3290926"/>
            <a:ext cx="142646" cy="91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71500" y="3886200"/>
            <a:ext cx="5381244" cy="724205"/>
          </a:xfrm>
          <a:prstGeom prst="roundRect">
            <a:avLst>
              <a:gd name="adj" fmla="val 99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Shape 15"/>
          <p:cNvSpPr/>
          <p:nvPr/>
        </p:nvSpPr>
        <p:spPr>
          <a:xfrm>
            <a:off x="6238951" y="3029407"/>
            <a:ext cx="5381244" cy="724205"/>
          </a:xfrm>
          <a:prstGeom prst="roundRect">
            <a:avLst>
              <a:gd name="adj" fmla="val 99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6"/>
          <p:cNvSpPr txBox="1"/>
          <p:nvPr/>
        </p:nvSpPr>
        <p:spPr>
          <a:xfrm>
            <a:off x="1104595" y="3143707"/>
            <a:ext cx="2110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L1-COMPLEXITY-MATRIX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104595" y="5715000"/>
            <a:ext cx="24908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L2-EXAMPLES / L2-PROMPTS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772046" y="3143707"/>
            <a:ext cx="1595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Notify developers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772046" y="4000500"/>
            <a:ext cx="18626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Write incident report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104595" y="3438144"/>
            <a:ext cx="33841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When making tier decisions (LOW/MEDIUM/HIGH)</a:t>
            </a:r>
            <a:endParaRPr lang="en-US" sz="11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rcRect l="-989999" r="-989999"/>
          <a:stretch/>
        </p:blipFill>
        <p:spPr>
          <a:xfrm>
            <a:off x="747979" y="4147718"/>
            <a:ext cx="142646" cy="91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04595" y="4295851"/>
            <a:ext cx="30412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When checking risks and do-not-touch areas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rcRect l="-989999" r="-989999"/>
          <a:stretch/>
        </p:blipFill>
        <p:spPr>
          <a:xfrm>
            <a:off x="747979" y="5005426"/>
            <a:ext cx="142646" cy="914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104595" y="5152644"/>
            <a:ext cx="24697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When planning how to test changes</a:t>
            </a:r>
            <a:endParaRPr lang="en-US" sz="11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rcRect l="-989999" r="-989999"/>
          <a:stretch/>
        </p:blipFill>
        <p:spPr>
          <a:xfrm>
            <a:off x="747979" y="5862218"/>
            <a:ext cx="142646" cy="914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6238951" y="2009851"/>
            <a:ext cx="5381244" cy="19202"/>
          </a:xfrm>
          <a:prstGeom prst="rect">
            <a:avLst/>
          </a:prstGeom>
          <a:solidFill>
            <a:srgbClr val="66B2FF">
              <a:alpha val="3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1" name="Text 24"/>
          <p:cNvSpPr txBox="1"/>
          <p:nvPr/>
        </p:nvSpPr>
        <p:spPr>
          <a:xfrm>
            <a:off x="6238951" y="1619402"/>
            <a:ext cx="35012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Emergency Production Response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6238951" y="2171700"/>
            <a:ext cx="5381244" cy="724205"/>
          </a:xfrm>
          <a:prstGeom prst="roundRect">
            <a:avLst>
              <a:gd name="adj" fmla="val 9968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26"/>
          <p:cNvSpPr txBox="1"/>
          <p:nvPr/>
        </p:nvSpPr>
        <p:spPr>
          <a:xfrm>
            <a:off x="6772046" y="2286000"/>
            <a:ext cx="19769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Roll back immediately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1104595" y="6010351"/>
            <a:ext cx="33366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When looking for examples or proven AI prompts</a:t>
            </a:r>
            <a:endParaRPr lang="en-US" sz="11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rcRect l="-989999" r="-989999"/>
          <a:stretch/>
        </p:blipFill>
        <p:spPr>
          <a:xfrm>
            <a:off x="6391656" y="2433218"/>
            <a:ext cx="190195" cy="91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772046" y="2581351"/>
            <a:ext cx="36987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reset --hard &lt;backup_hash&gt; to minimize downtime</a:t>
            </a:r>
            <a:endParaRPr lang="en-US" sz="11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5"/>
          <a:srcRect l="-1024284" r="-1024284"/>
          <a:stretch/>
        </p:blipFill>
        <p:spPr>
          <a:xfrm>
            <a:off x="6400800" y="3290926"/>
            <a:ext cx="171907" cy="914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772046" y="3438144"/>
            <a:ext cx="35652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 issue details, actions taken, and captured logs</a:t>
            </a:r>
            <a:endParaRPr lang="en-US" sz="11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6"/>
          <a:srcRect l="-989999" r="-989999"/>
          <a:stretch/>
        </p:blipFill>
        <p:spPr>
          <a:xfrm>
            <a:off x="6415430" y="4147718"/>
            <a:ext cx="142646" cy="91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772046" y="4295851"/>
            <a:ext cx="29553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Document root cause analysis and findings</a:t>
            </a:r>
            <a:endParaRPr lang="en-US" sz="11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7"/>
          <a:srcRect l="-989999" r="-989999"/>
          <a:stretch/>
        </p:blipFill>
        <p:spPr>
          <a:xfrm>
            <a:off x="6391656" y="5005426"/>
            <a:ext cx="190195" cy="91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6772046" y="4858207"/>
            <a:ext cx="2052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Update documentation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6772046" y="5152644"/>
            <a:ext cx="4488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Strengthen L1-CONSTRAINTS or L1-TESTING to prevent recurrence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 txBox="1"/>
          <p:nvPr/>
        </p:nvSpPr>
        <p:spPr>
          <a:xfrm>
            <a:off x="571500" y="580644"/>
            <a:ext cx="95161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 Workflow Example — LOW: Text Copy Update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566237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571500" y="2194430"/>
            <a:ext cx="114300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" y="2099333"/>
            <a:ext cx="2643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 UI copy on a static page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2604081"/>
            <a:ext cx="152705" cy="152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86500" y="1566237"/>
            <a:ext cx="10287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38505" y="2508984"/>
            <a:ext cx="493958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Marketing team requested updated product description with new features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571500" y="3252391"/>
            <a:ext cx="190195" cy="152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5995" y="3156379"/>
            <a:ext cx="32625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 is embedded in HTML template file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" y="3662042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38505" y="3566030"/>
            <a:ext cx="470093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Non-developer needs to make change quickly for product launch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86500" y="2194430"/>
            <a:ext cx="152705" cy="1527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553505" y="2099333"/>
            <a:ext cx="505388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Backup: Create git commit; write CR with file path and target text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86500" y="2842740"/>
            <a:ext cx="152705" cy="1527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553505" y="2747642"/>
            <a:ext cx="51864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Analysis: AI rates LOW; confirm no L1-CONSTRAINTS violations</a:t>
            </a:r>
            <a:endParaRPr lang="en-US" sz="13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86500" y="3252391"/>
            <a:ext cx="152705" cy="15270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553505" y="3156379"/>
            <a:ext cx="50913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Implementation: AI suggests exact edit; apply and verify with quick check</a:t>
            </a:r>
            <a:endParaRPr lang="en-US" sz="13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86500" y="3899786"/>
            <a:ext cx="152705" cy="15270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553505" y="3804689"/>
            <a:ext cx="492953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Testing: Run minimal + functional tests to verify page loads correctly</a:t>
            </a:r>
            <a:endParaRPr lang="en-US" sz="13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86500" y="4547181"/>
            <a:ext cx="152705" cy="15270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6553505" y="4452084"/>
            <a:ext cx="512978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Documentation: Add example with prompt and lessons to L2-EXAMPLES.md</a:t>
            </a:r>
            <a:endParaRPr lang="en-US" sz="1300" dirty="0"/>
          </a:p>
        </p:txBody>
      </p:sp>
      <p:sp>
        <p:nvSpPr>
          <p:cNvPr id="24" name="Text 13"/>
          <p:cNvSpPr txBox="1"/>
          <p:nvPr/>
        </p:nvSpPr>
        <p:spPr>
          <a:xfrm>
            <a:off x="6286500" y="5252184"/>
            <a:ext cx="11814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6B2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</a:t>
            </a:r>
            <a:endParaRPr lang="en-US" sz="18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86500" y="5881291"/>
            <a:ext cx="152705" cy="15270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6553505" y="5785279"/>
            <a:ext cx="2319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20-minute turnaround time</a:t>
            </a:r>
            <a:endParaRPr lang="en-US" sz="13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86500" y="6290942"/>
            <a:ext cx="152705" cy="152705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6553505" y="6194930"/>
            <a:ext cx="38532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developer review needed (LOW complexity)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457200" y="400507"/>
            <a:ext cx="15051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14400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457200" y="1327004"/>
            <a:ext cx="25438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Remember the pillars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879302"/>
            <a:ext cx="5524805" cy="952805"/>
          </a:xfrm>
          <a:prstGeom prst="roundRect">
            <a:avLst>
              <a:gd name="adj" fmla="val 7678"/>
            </a:avLst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457200" y="1879302"/>
            <a:ext cx="38405" cy="9528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107902"/>
            <a:ext cx="190195" cy="1901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0605" y="1879302"/>
            <a:ext cx="5524805" cy="952805"/>
          </a:xfrm>
          <a:prstGeom prst="roundRect">
            <a:avLst>
              <a:gd name="adj" fmla="val 7678"/>
            </a:avLst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Shape 8"/>
          <p:cNvSpPr/>
          <p:nvPr/>
        </p:nvSpPr>
        <p:spPr>
          <a:xfrm>
            <a:off x="6210605" y="1879302"/>
            <a:ext cx="38405" cy="9528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457200" y="3060707"/>
            <a:ext cx="5524805" cy="952805"/>
          </a:xfrm>
          <a:prstGeom prst="roundRect">
            <a:avLst>
              <a:gd name="adj" fmla="val 7678"/>
            </a:avLst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Shape 10"/>
          <p:cNvSpPr/>
          <p:nvPr/>
        </p:nvSpPr>
        <p:spPr>
          <a:xfrm>
            <a:off x="457200" y="3060707"/>
            <a:ext cx="38405" cy="9528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Shape 11"/>
          <p:cNvSpPr/>
          <p:nvPr/>
        </p:nvSpPr>
        <p:spPr>
          <a:xfrm>
            <a:off x="6210605" y="3060707"/>
            <a:ext cx="5524805" cy="952805"/>
          </a:xfrm>
          <a:prstGeom prst="roundRect">
            <a:avLst>
              <a:gd name="adj" fmla="val 7678"/>
            </a:avLst>
          </a:prstGeom>
          <a:solidFill>
            <a:srgbClr val="1E293B">
              <a:alpha val="80000"/>
            </a:srgb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Shape 12"/>
          <p:cNvSpPr/>
          <p:nvPr/>
        </p:nvSpPr>
        <p:spPr>
          <a:xfrm>
            <a:off x="6210605" y="3060707"/>
            <a:ext cx="38405" cy="9528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3"/>
          <p:cNvSpPr txBox="1"/>
          <p:nvPr/>
        </p:nvSpPr>
        <p:spPr>
          <a:xfrm>
            <a:off x="990295" y="2060353"/>
            <a:ext cx="23344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over guesswork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743700" y="2060353"/>
            <a:ext cx="19339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Guardrails over risk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2412397"/>
            <a:ext cx="3991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Follow structured workflows for predictable outcomes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9205" y="2107902"/>
            <a:ext cx="190195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39205" y="2412397"/>
            <a:ext cx="3629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 constraints and verification to prevent issues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85800" y="3289307"/>
            <a:ext cx="171907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72007" y="3241758"/>
            <a:ext cx="28392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Documentation over memory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743700" y="3241758"/>
            <a:ext cx="23628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over repetition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" y="3593802"/>
            <a:ext cx="4067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Write everything down to build institutional knowledge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39205" y="3289307"/>
            <a:ext cx="190195" cy="19019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39205" y="359380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Improve continuously from experience and feedback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374700"/>
            <a:ext cx="13057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steps</a:t>
            </a:r>
            <a:endParaRPr lang="en-US" sz="18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457200" y="4889507"/>
            <a:ext cx="133502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05002" y="4851102"/>
            <a:ext cx="3029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Adopt the workflow on your next change</a:t>
            </a:r>
            <a:endParaRPr lang="en-US" sz="12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457200" y="5194002"/>
            <a:ext cx="133502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5002" y="5155597"/>
            <a:ext cx="4620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Keep L2 documentation fresh; bring learnings to retrospectives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373929" y="5849367"/>
            <a:ext cx="16623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33" name="Text 25"/>
          <p:cNvSpPr txBox="1"/>
          <p:nvPr/>
        </p:nvSpPr>
        <p:spPr>
          <a:xfrm>
            <a:off x="3931920" y="6306567"/>
            <a:ext cx="4448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embracing a safer, more efficient maintenance approach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3834</TotalTime>
  <Words>2412</Words>
  <Application>Microsoft Macintosh PowerPoint</Application>
  <PresentationFormat>Widescreen</PresentationFormat>
  <Paragraphs>394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Noto Sans KR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Service Developer Super</cp:lastModifiedBy>
  <cp:revision>2</cp:revision>
  <dcterms:created xsi:type="dcterms:W3CDTF">2025-10-31T07:30:51Z</dcterms:created>
  <dcterms:modified xsi:type="dcterms:W3CDTF">2025-11-02T23:26:38Z</dcterms:modified>
</cp:coreProperties>
</file>